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2C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/>
        </p:nvPicPr>
        <p:blipFill>
          <a:blip r:embed="rId3"/>
          <a:srcRect l="18972" r="18972"/>
          <a:stretch>
            <a:fillRect/>
          </a:stretch>
        </p:blipFill>
        <p:spPr>
          <a:xfrm>
            <a:off x="5810250" y="0"/>
            <a:ext cx="6381750" cy="6858000"/>
          </a:xfrm>
          <a:prstGeom prst="rect">
            <a:avLst/>
          </a:prstGeom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B63AECE0-392E-48A0-B990-6646B4A4CA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oundRect">
            <a:avLst>
              <a:gd name="adj" fmla="val 0"/>
            </a:avLst>
          </a:prstGeom>
          <a:solidFill>
            <a:srgbClr val="3A2C25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0E93332-8A40-41B6-B0A5-6F8A9A5B353B}"/>
              </a:ext>
            </a:extLst>
          </p:cNvPr>
          <p:cNvSpPr>
            <a:spLocks noGrp="1"/>
          </p:cNvSpPr>
          <p:nvPr/>
        </p:nvSpPr>
        <p:spPr>
          <a:xfrm>
            <a:off x="5572125" y="0"/>
            <a:ext cx="1714500" cy="6858000"/>
          </a:xfrm>
          <a:prstGeom prst="roundRect">
            <a:avLst>
              <a:gd name="adj" fmla="val 0"/>
            </a:avLst>
          </a:prstGeom>
          <a:solidFill>
            <a:srgbClr val="3A2C25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DB1EA8B-FC4F-4128-8ECB-8FDE543EB82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C9953D"/>
                </a:solidFill>
              </a:defRPr>
            </a:pPr>
            <a:r>
              <a:rPr sz="1125" b="1">
                <a:solidFill>
                  <a:srgbClr val="C9953D"/>
                </a:solidFill>
              </a:rPr>
              <a:t>WEBPROJEKT - POLITIK UND GESELLSCHAFT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1AE4B49-2BC2-438E-B50D-5F4E0AB5A4F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5048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Künstliche Intelligenz</a:t>
            </a:r>
          </a:p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im Alltag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1DA0F92-CB5B-4B15-B2D9-1C6AFB78E43F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EBDDD0"/>
                </a:solidFill>
              </a:defRPr>
            </a:pPr>
            <a:r>
              <a:rPr sz="1875" b="0">
                <a:solidFill>
                  <a:srgbClr val="EBDDD0"/>
                </a:solidFill>
              </a:rPr>
              <a:t>Chancen, Risiken und reale Anwendungen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34463A9-4910-4473-878B-280C3C52124B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1047750" cy="36195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7726DDC-22B7-4E34-BAAB-BE80D3210BE2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81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HTML5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A55589B2-344B-4D99-9B3F-96F4CB2B3E7F}"/>
              </a:ext>
            </a:extLst>
          </p:cNvPr>
          <p:cNvSpPr>
            <a:spLocks noGrp="1"/>
          </p:cNvSpPr>
          <p:nvPr/>
        </p:nvSpPr>
        <p:spPr>
          <a:xfrm>
            <a:off x="1847850" y="4286250"/>
            <a:ext cx="1257300" cy="361950"/>
          </a:xfrm>
          <a:prstGeom prst="roundRect">
            <a:avLst>
              <a:gd name="adj" fmla="val 50000"/>
            </a:avLst>
          </a:prstGeom>
          <a:solidFill>
            <a:srgbClr val="C9953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E59FA7B-4A4F-4AB8-B4E5-65AA70C20AB9}"/>
              </a:ext>
            </a:extLst>
          </p:cNvPr>
          <p:cNvSpPr>
            <a:spLocks noGrp="1"/>
          </p:cNvSpPr>
          <p:nvPr/>
        </p:nvSpPr>
        <p:spPr>
          <a:xfrm>
            <a:off x="1962150" y="430530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342A24"/>
                </a:solidFill>
              </a:defRPr>
            </a:pPr>
            <a:r>
              <a:rPr sz="1125" b="1">
                <a:solidFill>
                  <a:srgbClr val="342A24"/>
                </a:solidFill>
              </a:rPr>
              <a:t>CSS Grid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E5666F3C-6198-4717-9456-87BE309C5272}"/>
              </a:ext>
            </a:extLst>
          </p:cNvPr>
          <p:cNvSpPr>
            <a:spLocks noGrp="1"/>
          </p:cNvSpPr>
          <p:nvPr/>
        </p:nvSpPr>
        <p:spPr>
          <a:xfrm>
            <a:off x="3219450" y="4286250"/>
            <a:ext cx="1381125" cy="361950"/>
          </a:xfrm>
          <a:prstGeom prst="roundRect">
            <a:avLst>
              <a:gd name="adj" fmla="val 50000"/>
            </a:avLst>
          </a:prstGeom>
          <a:solidFill>
            <a:srgbClr val="E4D2B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A568C4D-2094-4446-86B8-E2E1ACAA8D51}"/>
              </a:ext>
            </a:extLst>
          </p:cNvPr>
          <p:cNvSpPr>
            <a:spLocks noGrp="1"/>
          </p:cNvSpPr>
          <p:nvPr/>
        </p:nvSpPr>
        <p:spPr>
          <a:xfrm>
            <a:off x="3333750" y="4305300"/>
            <a:ext cx="11525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342A24"/>
                </a:solidFill>
              </a:defRPr>
            </a:pPr>
            <a:r>
              <a:rPr sz="1125" b="1">
                <a:solidFill>
                  <a:srgbClr val="342A24"/>
                </a:solidFill>
              </a:rPr>
              <a:t>JavaScript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232CAE1-CBFF-48C1-8864-BDF15549BF08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D8C7B7"/>
                </a:solidFill>
              </a:defRPr>
            </a:pPr>
            <a:r>
              <a:rPr sz="1275" b="0">
                <a:solidFill>
                  <a:srgbClr val="D8C7B7"/>
                </a:solidFill>
              </a:rPr>
              <a:t>Präsentation des Webprojekts</a:t>
            </a:r>
          </a:p>
        </p:txBody>
      </p:sp>
    </p:spTree>
    <p:extLst>
      <p:ext uri="{BB962C8B-B14F-4D97-AF65-F5344CB8AC3E}">
        <p14:creationId xmlns:p14="http://schemas.microsoft.com/office/powerpoint/2010/main" val="12594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2E9709F-88AC-4B14-916A-50FF700B94A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01 - IDEE DER SEITE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A916002-D3E3-4604-84F2-1D59FB931C0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KI wird verständlich, wenn sie im Alltag sichtbar wird</a:t>
            </a:r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3"/>
          <a:srcRect l="9730" r="9730"/>
          <a:stretch>
            <a:fillRect/>
          </a:stretch>
        </p:blipFill>
        <p:spPr>
          <a:xfrm>
            <a:off x="685800" y="1847850"/>
            <a:ext cx="4762500" cy="3943350"/>
          </a:xfrm>
          <a:prstGeom prst="roundRect">
            <a:avLst>
              <a:gd name="adj" fmla="val 3865"/>
            </a:avLst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4A816336-2B3F-4235-9779-41C5FDF00EC6}"/>
              </a:ext>
            </a:extLst>
          </p:cNvPr>
          <p:cNvSpPr>
            <a:spLocks noGrp="1"/>
          </p:cNvSpPr>
          <p:nvPr/>
        </p:nvSpPr>
        <p:spPr>
          <a:xfrm>
            <a:off x="5981700" y="19431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A84C2F"/>
                </a:solidFill>
              </a:defRPr>
            </a:pPr>
            <a:r>
              <a:rPr sz="1350" b="1">
                <a:solidFill>
                  <a:srgbClr val="A84C2F"/>
                </a:solidFill>
              </a:rPr>
              <a:t>Unser Ziel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6CE9AB6-83F7-4ED6-9DAC-15A734D6608D}"/>
              </a:ext>
            </a:extLst>
          </p:cNvPr>
          <p:cNvSpPr>
            <a:spLocks noGrp="1"/>
          </p:cNvSpPr>
          <p:nvPr/>
        </p:nvSpPr>
        <p:spPr>
          <a:xfrm>
            <a:off x="5981700" y="2381250"/>
            <a:ext cx="5143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342A24"/>
                </a:solidFill>
              </a:defRPr>
            </a:pPr>
            <a:r>
              <a:rPr sz="2175" b="1" dirty="0">
                <a:solidFill>
                  <a:srgbClr val="342A24"/>
                </a:solidFill>
              </a:rPr>
              <a:t>Nicht </a:t>
            </a:r>
            <a:r>
              <a:rPr sz="2175" b="1" dirty="0" err="1">
                <a:solidFill>
                  <a:srgbClr val="342A24"/>
                </a:solidFill>
              </a:rPr>
              <a:t>nur</a:t>
            </a:r>
            <a:r>
              <a:rPr sz="2175" b="1" dirty="0">
                <a:solidFill>
                  <a:srgbClr val="342A24"/>
                </a:solidFill>
              </a:rPr>
              <a:t> </a:t>
            </a:r>
            <a:r>
              <a:rPr sz="2175" b="1" dirty="0" err="1">
                <a:solidFill>
                  <a:srgbClr val="342A24"/>
                </a:solidFill>
              </a:rPr>
              <a:t>erklären</a:t>
            </a:r>
            <a:r>
              <a:rPr sz="2175" b="1" dirty="0">
                <a:solidFill>
                  <a:srgbClr val="342A24"/>
                </a:solidFill>
              </a:rPr>
              <a:t>, was KI </a:t>
            </a:r>
            <a:r>
              <a:rPr sz="2175" b="1" dirty="0" err="1">
                <a:solidFill>
                  <a:srgbClr val="342A24"/>
                </a:solidFill>
              </a:rPr>
              <a:t>ist</a:t>
            </a:r>
            <a:r>
              <a:rPr sz="2175" b="1" dirty="0">
                <a:solidFill>
                  <a:srgbClr val="342A24"/>
                </a:solidFill>
              </a:rPr>
              <a:t>, </a:t>
            </a:r>
            <a:r>
              <a:rPr sz="2175" b="1" dirty="0" err="1">
                <a:solidFill>
                  <a:srgbClr val="342A24"/>
                </a:solidFill>
              </a:rPr>
              <a:t>sondern</a:t>
            </a:r>
            <a:r>
              <a:rPr sz="2175" b="1" dirty="0">
                <a:solidFill>
                  <a:srgbClr val="342A24"/>
                </a:solidFill>
              </a:rPr>
              <a:t> </a:t>
            </a:r>
            <a:r>
              <a:rPr sz="2175" b="1" dirty="0" err="1">
                <a:solidFill>
                  <a:srgbClr val="342A24"/>
                </a:solidFill>
              </a:rPr>
              <a:t>zeigen</a:t>
            </a:r>
            <a:r>
              <a:rPr sz="2175" b="1" dirty="0">
                <a:solidFill>
                  <a:srgbClr val="342A24"/>
                </a:solidFill>
              </a:rPr>
              <a:t>, wo </a:t>
            </a:r>
            <a:r>
              <a:rPr sz="2175" b="1" dirty="0" err="1">
                <a:solidFill>
                  <a:srgbClr val="342A24"/>
                </a:solidFill>
              </a:rPr>
              <a:t>sie</a:t>
            </a:r>
            <a:r>
              <a:rPr sz="2175" b="1" dirty="0">
                <a:solidFill>
                  <a:srgbClr val="342A24"/>
                </a:solidFill>
              </a:rPr>
              <a:t> </a:t>
            </a:r>
            <a:r>
              <a:rPr sz="2175" b="1" dirty="0" err="1">
                <a:solidFill>
                  <a:srgbClr val="342A24"/>
                </a:solidFill>
              </a:rPr>
              <a:t>heute</a:t>
            </a:r>
            <a:r>
              <a:rPr sz="2175" b="1" dirty="0">
                <a:solidFill>
                  <a:srgbClr val="342A24"/>
                </a:solidFill>
              </a:rPr>
              <a:t> </a:t>
            </a:r>
            <a:r>
              <a:rPr sz="2175" b="1" dirty="0" err="1">
                <a:solidFill>
                  <a:srgbClr val="342A24"/>
                </a:solidFill>
              </a:rPr>
              <a:t>bereits</a:t>
            </a:r>
            <a:r>
              <a:rPr sz="2175" b="1" dirty="0">
                <a:solidFill>
                  <a:srgbClr val="342A24"/>
                </a:solidFill>
              </a:rPr>
              <a:t> </a:t>
            </a:r>
            <a:r>
              <a:rPr sz="2175" b="1" dirty="0" err="1">
                <a:solidFill>
                  <a:srgbClr val="342A24"/>
                </a:solidFill>
              </a:rPr>
              <a:t>benutzt</a:t>
            </a:r>
            <a:r>
              <a:rPr sz="2175" b="1" dirty="0">
                <a:solidFill>
                  <a:srgbClr val="342A24"/>
                </a:solidFill>
              </a:rPr>
              <a:t> </a:t>
            </a:r>
            <a:r>
              <a:rPr sz="2175" b="1" dirty="0" err="1">
                <a:solidFill>
                  <a:srgbClr val="342A24"/>
                </a:solidFill>
              </a:rPr>
              <a:t>wird</a:t>
            </a:r>
            <a:r>
              <a:rPr sz="2175" b="1" dirty="0">
                <a:solidFill>
                  <a:srgbClr val="342A24"/>
                </a:solidFill>
              </a:rPr>
              <a:t>.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582B903-90F7-451F-974F-3244F4EC56BF}"/>
              </a:ext>
            </a:extLst>
          </p:cNvPr>
          <p:cNvSpPr>
            <a:spLocks noGrp="1"/>
          </p:cNvSpPr>
          <p:nvPr/>
        </p:nvSpPr>
        <p:spPr>
          <a:xfrm>
            <a:off x="5981700" y="37147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91D6E43-F6FB-48EE-8143-4CAD440F49CA}"/>
              </a:ext>
            </a:extLst>
          </p:cNvPr>
          <p:cNvSpPr>
            <a:spLocks noGrp="1"/>
          </p:cNvSpPr>
          <p:nvPr/>
        </p:nvSpPr>
        <p:spPr>
          <a:xfrm>
            <a:off x="5981700" y="37147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D64BFE5-A028-4741-BDF6-90F9BC3471E7}"/>
              </a:ext>
            </a:extLst>
          </p:cNvPr>
          <p:cNvSpPr>
            <a:spLocks noGrp="1"/>
          </p:cNvSpPr>
          <p:nvPr/>
        </p:nvSpPr>
        <p:spPr>
          <a:xfrm>
            <a:off x="6419850" y="3676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sechs konkrete Anwendungsbereiche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321A36B8-90AE-4D55-AAD5-58C5FD162568}"/>
              </a:ext>
            </a:extLst>
          </p:cNvPr>
          <p:cNvSpPr>
            <a:spLocks noGrp="1"/>
          </p:cNvSpPr>
          <p:nvPr/>
        </p:nvSpPr>
        <p:spPr>
          <a:xfrm>
            <a:off x="5981700" y="43624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B092384-862B-4E8F-9077-29C592C537E0}"/>
              </a:ext>
            </a:extLst>
          </p:cNvPr>
          <p:cNvSpPr>
            <a:spLocks noGrp="1"/>
          </p:cNvSpPr>
          <p:nvPr/>
        </p:nvSpPr>
        <p:spPr>
          <a:xfrm>
            <a:off x="5981700" y="43624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43ECED3-7671-4C28-9C88-6DCE36B56C61}"/>
              </a:ext>
            </a:extLst>
          </p:cNvPr>
          <p:cNvSpPr>
            <a:spLocks noGrp="1"/>
          </p:cNvSpPr>
          <p:nvPr/>
        </p:nvSpPr>
        <p:spPr>
          <a:xfrm>
            <a:off x="6419850" y="43243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reale Beispiele mit offiziellen Quellen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3226D78-97DB-4D86-943C-6EA1959516B8}"/>
              </a:ext>
            </a:extLst>
          </p:cNvPr>
          <p:cNvSpPr>
            <a:spLocks noGrp="1"/>
          </p:cNvSpPr>
          <p:nvPr/>
        </p:nvSpPr>
        <p:spPr>
          <a:xfrm>
            <a:off x="5981700" y="50101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64331A1-DACA-4D23-9F4F-377D7E1FECA6}"/>
              </a:ext>
            </a:extLst>
          </p:cNvPr>
          <p:cNvSpPr>
            <a:spLocks noGrp="1"/>
          </p:cNvSpPr>
          <p:nvPr/>
        </p:nvSpPr>
        <p:spPr>
          <a:xfrm>
            <a:off x="5981700" y="50101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FE42BE8-2496-4D87-9B51-D3F17A4BC7C2}"/>
              </a:ext>
            </a:extLst>
          </p:cNvPr>
          <p:cNvSpPr>
            <a:spLocks noGrp="1"/>
          </p:cNvSpPr>
          <p:nvPr/>
        </p:nvSpPr>
        <p:spPr>
          <a:xfrm>
            <a:off x="6419850" y="49720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Chancen und Risiken gemeinsam betrachten</a:t>
            </a:r>
          </a:p>
        </p:txBody>
      </p:sp>
      <p:sp>
        <p:nvSpPr>
          <p:cNvPr id="15" name="Gerader Verbinder 14">
            <a:extLst>
              <a:ext uri="{FF2B5EF4-FFF2-40B4-BE49-F238E27FC236}">
                <a16:creationId xmlns:a16="http://schemas.microsoft.com/office/drawing/2014/main" id="{AE19D287-8478-4AD2-A9DB-ADD873481BA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1B6D629-AC28-4A10-B464-5ECD38DAF9C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55223B6-B448-4D52-90E8-434753AC7748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406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BD7AF8F-65BA-407A-9813-D7362AA84FD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02 - INHALT UND SEITENSTRUKTUR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1CD3A4B-1B27-4F68-A775-2DDD8D0FFFF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Eine Startseite führt in sechs vertiefende Themen</a:t>
            </a:r>
          </a:p>
        </p:txBody>
      </p:sp>
      <p:pic>
        <p:nvPicPr>
          <p:cNvPr id="24" name="Grafik 23"/>
          <p:cNvPicPr>
            <a:picLocks noChangeAspect="1"/>
          </p:cNvPicPr>
          <p:nvPr/>
        </p:nvPicPr>
        <p:blipFill>
          <a:blip r:embed="rId3"/>
          <a:srcRect l="25144" r="25144"/>
          <a:stretch>
            <a:fillRect/>
          </a:stretch>
        </p:blipFill>
        <p:spPr>
          <a:xfrm>
            <a:off x="685800" y="2152650"/>
            <a:ext cx="1562100" cy="2095500"/>
          </a:xfrm>
          <a:prstGeom prst="roundRect">
            <a:avLst>
              <a:gd name="adj" fmla="val 9756"/>
            </a:avLst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5929759D-4A4E-4795-A4CF-B6B2B91E10D0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562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Chatbots</a:t>
            </a:r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4"/>
          <a:srcRect l="12727" r="12727"/>
          <a:stretch>
            <a:fillRect/>
          </a:stretch>
        </p:blipFill>
        <p:spPr>
          <a:xfrm>
            <a:off x="2476500" y="2152650"/>
            <a:ext cx="1562100" cy="2095500"/>
          </a:xfrm>
          <a:prstGeom prst="roundRect">
            <a:avLst>
              <a:gd name="adj" fmla="val 9756"/>
            </a:avLst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DDFD99A0-7CD8-4201-82BE-BC930C605592}"/>
              </a:ext>
            </a:extLst>
          </p:cNvPr>
          <p:cNvSpPr>
            <a:spLocks noGrp="1"/>
          </p:cNvSpPr>
          <p:nvPr/>
        </p:nvSpPr>
        <p:spPr>
          <a:xfrm>
            <a:off x="2476500" y="4324350"/>
            <a:ext cx="1562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Sprache</a:t>
            </a:r>
          </a:p>
        </p:txBody>
      </p:sp>
      <p:pic>
        <p:nvPicPr>
          <p:cNvPr id="28" name="Grafik 27"/>
          <p:cNvPicPr>
            <a:picLocks noChangeAspect="1"/>
          </p:cNvPicPr>
          <p:nvPr/>
        </p:nvPicPr>
        <p:blipFill>
          <a:blip r:embed="rId5"/>
          <a:srcRect l="25144" r="25144"/>
          <a:stretch>
            <a:fillRect/>
          </a:stretch>
        </p:blipFill>
        <p:spPr>
          <a:xfrm>
            <a:off x="4267200" y="2152650"/>
            <a:ext cx="1562100" cy="2095500"/>
          </a:xfrm>
          <a:prstGeom prst="roundRect">
            <a:avLst>
              <a:gd name="adj" fmla="val 9756"/>
            </a:avLst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7F9ECD37-FFF3-4758-AFFA-C534B73004F4}"/>
              </a:ext>
            </a:extLst>
          </p:cNvPr>
          <p:cNvSpPr>
            <a:spLocks noGrp="1"/>
          </p:cNvSpPr>
          <p:nvPr/>
        </p:nvSpPr>
        <p:spPr>
          <a:xfrm>
            <a:off x="4267200" y="4324350"/>
            <a:ext cx="1562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Navigation</a:t>
            </a:r>
          </a:p>
        </p:txBody>
      </p:sp>
      <p:pic>
        <p:nvPicPr>
          <p:cNvPr id="30" name="Grafik 29"/>
          <p:cNvPicPr>
            <a:picLocks noChangeAspect="1"/>
          </p:cNvPicPr>
          <p:nvPr/>
        </p:nvPicPr>
        <p:blipFill>
          <a:blip r:embed="rId6"/>
          <a:srcRect l="25144" r="25144"/>
          <a:stretch>
            <a:fillRect/>
          </a:stretch>
        </p:blipFill>
        <p:spPr>
          <a:xfrm>
            <a:off x="6057900" y="2152650"/>
            <a:ext cx="1562100" cy="2095500"/>
          </a:xfrm>
          <a:prstGeom prst="roundRect">
            <a:avLst>
              <a:gd name="adj" fmla="val 9756"/>
            </a:avLst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AE13733C-8B80-4526-9660-720CA118EB06}"/>
              </a:ext>
            </a:extLst>
          </p:cNvPr>
          <p:cNvSpPr>
            <a:spLocks noGrp="1"/>
          </p:cNvSpPr>
          <p:nvPr/>
        </p:nvSpPr>
        <p:spPr>
          <a:xfrm>
            <a:off x="6057900" y="4324350"/>
            <a:ext cx="1562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Bilder</a:t>
            </a:r>
          </a:p>
        </p:txBody>
      </p:sp>
      <p:pic>
        <p:nvPicPr>
          <p:cNvPr id="32" name="Grafik 31"/>
          <p:cNvPicPr>
            <a:picLocks noChangeAspect="1"/>
          </p:cNvPicPr>
          <p:nvPr/>
        </p:nvPicPr>
        <p:blipFill>
          <a:blip r:embed="rId7"/>
          <a:srcRect l="25144" r="25144"/>
          <a:stretch>
            <a:fillRect/>
          </a:stretch>
        </p:blipFill>
        <p:spPr>
          <a:xfrm>
            <a:off x="7848600" y="2152650"/>
            <a:ext cx="1562100" cy="2095500"/>
          </a:xfrm>
          <a:prstGeom prst="roundRect">
            <a:avLst>
              <a:gd name="adj" fmla="val 9756"/>
            </a:avLst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4166B956-DA4C-4D9C-8074-A44A2B358E29}"/>
              </a:ext>
            </a:extLst>
          </p:cNvPr>
          <p:cNvSpPr>
            <a:spLocks noGrp="1"/>
          </p:cNvSpPr>
          <p:nvPr/>
        </p:nvSpPr>
        <p:spPr>
          <a:xfrm>
            <a:off x="7848600" y="4324350"/>
            <a:ext cx="1562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Medizin</a:t>
            </a:r>
          </a:p>
        </p:txBody>
      </p:sp>
      <p:pic>
        <p:nvPicPr>
          <p:cNvPr id="34" name="Grafik 33"/>
          <p:cNvPicPr>
            <a:picLocks noChangeAspect="1"/>
          </p:cNvPicPr>
          <p:nvPr/>
        </p:nvPicPr>
        <p:blipFill>
          <a:blip r:embed="rId8"/>
          <a:srcRect l="25144" r="25144"/>
          <a:stretch>
            <a:fillRect/>
          </a:stretch>
        </p:blipFill>
        <p:spPr>
          <a:xfrm>
            <a:off x="9639300" y="2152650"/>
            <a:ext cx="1562100" cy="2095500"/>
          </a:xfrm>
          <a:prstGeom prst="roundRect">
            <a:avLst>
              <a:gd name="adj" fmla="val 9756"/>
            </a:avLst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3D1DDB5B-2B45-445B-9948-F35F003ADB96}"/>
              </a:ext>
            </a:extLst>
          </p:cNvPr>
          <p:cNvSpPr>
            <a:spLocks noGrp="1"/>
          </p:cNvSpPr>
          <p:nvPr/>
        </p:nvSpPr>
        <p:spPr>
          <a:xfrm>
            <a:off x="9639300" y="4324350"/>
            <a:ext cx="1562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Fahren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99640F4-2A8B-4EBE-90C1-5203A8BEE3D7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0820400" cy="895350"/>
          </a:xfrm>
          <a:prstGeom prst="roundRect">
            <a:avLst>
              <a:gd name="adj" fmla="val 17021"/>
            </a:avLst>
          </a:prstGeom>
          <a:solidFill>
            <a:srgbClr val="E4D2BD"/>
          </a:solidFill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5620DF4-8282-4052-89F8-0FB585F16C60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A84C2F"/>
                </a:solidFill>
              </a:defRPr>
            </a:pPr>
            <a:r>
              <a:rPr sz="1275" b="1">
                <a:solidFill>
                  <a:srgbClr val="A84C2F"/>
                </a:solidFill>
              </a:rPr>
              <a:t>Orientierung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999414F-F5DB-4978-8901-AA8EBE537C80}"/>
              </a:ext>
            </a:extLst>
          </p:cNvPr>
          <p:cNvSpPr>
            <a:spLocks noGrp="1"/>
          </p:cNvSpPr>
          <p:nvPr/>
        </p:nvSpPr>
        <p:spPr>
          <a:xfrm>
            <a:off x="2781300" y="5124450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Newsfeed und Kurzüberblick -&gt; Anwendungskarten -&gt; Detailseiten -&gt; Quellen, Quiz und Fazit</a:t>
            </a:r>
          </a:p>
        </p:txBody>
      </p:sp>
      <p:sp>
        <p:nvSpPr>
          <p:cNvPr id="18" name="Gerader Verbinder 17">
            <a:extLst>
              <a:ext uri="{FF2B5EF4-FFF2-40B4-BE49-F238E27FC236}">
                <a16:creationId xmlns:a16="http://schemas.microsoft.com/office/drawing/2014/main" id="{8510E35D-FC8F-43B8-B258-F8A19527459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FC02071-1470-4408-BE64-3C58645EF9B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0F1E0E7-A40F-47ED-9DC4-A5B2CD1F463F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928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4E7DBC1D-426F-459A-8816-9BFD3C1F25B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03 - UMSETZUNG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6F3295C-A88E-4D15-B7D2-B34A35AEE7B9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Die Website ist statisch, modular und ohne Framework aufgebaut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5476F75-0B96-47BA-A4D9-480792F036B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333750" cy="2857500"/>
          </a:xfrm>
          <a:prstGeom prst="roundRect">
            <a:avLst>
              <a:gd name="adj" fmla="val 5333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E90C2CE8-E18E-456B-A701-68A464AB6813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52450" cy="438150"/>
          </a:xfrm>
          <a:prstGeom prst="roundRect">
            <a:avLst>
              <a:gd name="adj" fmla="val 26087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3F4E912-6104-44AB-98FD-4B846100B421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FD0A73B-E173-4E5A-9BA0-357800BD6581}"/>
              </a:ext>
            </a:extLst>
          </p:cNvPr>
          <p:cNvSpPr>
            <a:spLocks noGrp="1"/>
          </p:cNvSpPr>
          <p:nvPr/>
        </p:nvSpPr>
        <p:spPr>
          <a:xfrm>
            <a:off x="952500" y="297180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342A24"/>
                </a:solidFill>
              </a:defRPr>
            </a:pPr>
            <a:r>
              <a:rPr sz="2025" b="1">
                <a:solidFill>
                  <a:srgbClr val="342A24"/>
                </a:solidFill>
              </a:rPr>
              <a:t>HTML5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036548B-0D9E-4775-8390-483756AF2AA3}"/>
              </a:ext>
            </a:extLst>
          </p:cNvPr>
          <p:cNvSpPr>
            <a:spLocks noGrp="1"/>
          </p:cNvSpPr>
          <p:nvPr/>
        </p:nvSpPr>
        <p:spPr>
          <a:xfrm>
            <a:off x="952500" y="3543300"/>
            <a:ext cx="2781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E5D52"/>
                </a:solidFill>
              </a:defRPr>
            </a:pPr>
            <a:r>
              <a:rPr sz="1425" b="0">
                <a:solidFill>
                  <a:srgbClr val="6E5D52"/>
                </a:solidFill>
              </a:rPr>
              <a:t>Semantische Elemente wie header, nav, main, section und footer strukturieren neun Seiten.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750DC96A-9909-440B-BA06-7A8D3E8DDF0E}"/>
              </a:ext>
            </a:extLst>
          </p:cNvPr>
          <p:cNvSpPr>
            <a:spLocks noGrp="1"/>
          </p:cNvSpPr>
          <p:nvPr/>
        </p:nvSpPr>
        <p:spPr>
          <a:xfrm>
            <a:off x="4305300" y="2095500"/>
            <a:ext cx="3333750" cy="2857500"/>
          </a:xfrm>
          <a:prstGeom prst="roundRect">
            <a:avLst>
              <a:gd name="adj" fmla="val 5333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52A5318-38F8-4260-9CEA-01D063F122C1}"/>
              </a:ext>
            </a:extLst>
          </p:cNvPr>
          <p:cNvSpPr>
            <a:spLocks noGrp="1"/>
          </p:cNvSpPr>
          <p:nvPr/>
        </p:nvSpPr>
        <p:spPr>
          <a:xfrm>
            <a:off x="4514850" y="2286000"/>
            <a:ext cx="552450" cy="438150"/>
          </a:xfrm>
          <a:prstGeom prst="roundRect">
            <a:avLst>
              <a:gd name="adj" fmla="val 26087"/>
            </a:avLst>
          </a:prstGeom>
          <a:solidFill>
            <a:srgbClr val="C9953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3924AB2-72CE-4E8F-8B04-E41C12B82539}"/>
              </a:ext>
            </a:extLst>
          </p:cNvPr>
          <p:cNvSpPr>
            <a:spLocks noGrp="1"/>
          </p:cNvSpPr>
          <p:nvPr/>
        </p:nvSpPr>
        <p:spPr>
          <a:xfrm>
            <a:off x="4533900" y="2305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02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C6F4E0D-C0E6-4F42-8C6E-BC45C6CB7DE9}"/>
              </a:ext>
            </a:extLst>
          </p:cNvPr>
          <p:cNvSpPr>
            <a:spLocks noGrp="1"/>
          </p:cNvSpPr>
          <p:nvPr/>
        </p:nvSpPr>
        <p:spPr>
          <a:xfrm>
            <a:off x="4572000" y="297180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342A24"/>
                </a:solidFill>
              </a:defRPr>
            </a:pPr>
            <a:r>
              <a:rPr sz="2025" b="1">
                <a:solidFill>
                  <a:srgbClr val="342A24"/>
                </a:solidFill>
              </a:rPr>
              <a:t>CSS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22B0AF6-2F48-4358-90B2-D0560B100186}"/>
              </a:ext>
            </a:extLst>
          </p:cNvPr>
          <p:cNvSpPr>
            <a:spLocks noGrp="1"/>
          </p:cNvSpPr>
          <p:nvPr/>
        </p:nvSpPr>
        <p:spPr>
          <a:xfrm>
            <a:off x="4572000" y="3543300"/>
            <a:ext cx="2781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E5D52"/>
                </a:solidFill>
              </a:defRPr>
            </a:pPr>
            <a:r>
              <a:rPr sz="1425" b="0">
                <a:solidFill>
                  <a:srgbClr val="6E5D52"/>
                </a:solidFill>
              </a:rPr>
              <a:t>Drei Stylesheets trennen Designsystem, Startseiten-Layout und Detailseiten-Layout.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6CC46FF0-9107-4853-8B99-C1CA949D917C}"/>
              </a:ext>
            </a:extLst>
          </p:cNvPr>
          <p:cNvSpPr>
            <a:spLocks noGrp="1"/>
          </p:cNvSpPr>
          <p:nvPr/>
        </p:nvSpPr>
        <p:spPr>
          <a:xfrm>
            <a:off x="7924800" y="2095500"/>
            <a:ext cx="3333750" cy="2857500"/>
          </a:xfrm>
          <a:prstGeom prst="roundRect">
            <a:avLst>
              <a:gd name="adj" fmla="val 5333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1CD1016-4D36-4BC5-888B-30BCD82C6A1C}"/>
              </a:ext>
            </a:extLst>
          </p:cNvPr>
          <p:cNvSpPr>
            <a:spLocks noGrp="1"/>
          </p:cNvSpPr>
          <p:nvPr/>
        </p:nvSpPr>
        <p:spPr>
          <a:xfrm>
            <a:off x="8134350" y="2286000"/>
            <a:ext cx="552450" cy="438150"/>
          </a:xfrm>
          <a:prstGeom prst="roundRect">
            <a:avLst>
              <a:gd name="adj" fmla="val 26087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B6EE0D5-DF15-4872-A01D-E7A3F5158DD3}"/>
              </a:ext>
            </a:extLst>
          </p:cNvPr>
          <p:cNvSpPr>
            <a:spLocks noGrp="1"/>
          </p:cNvSpPr>
          <p:nvPr/>
        </p:nvSpPr>
        <p:spPr>
          <a:xfrm>
            <a:off x="8153400" y="2305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9C71400-E6FD-403B-ADDC-FB1C1B5C0FC4}"/>
              </a:ext>
            </a:extLst>
          </p:cNvPr>
          <p:cNvSpPr>
            <a:spLocks noGrp="1"/>
          </p:cNvSpPr>
          <p:nvPr/>
        </p:nvSpPr>
        <p:spPr>
          <a:xfrm>
            <a:off x="8191500" y="297180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342A24"/>
                </a:solidFill>
              </a:defRPr>
            </a:pPr>
            <a:r>
              <a:rPr sz="2025" b="1">
                <a:solidFill>
                  <a:srgbClr val="342A24"/>
                </a:solidFill>
              </a:rPr>
              <a:t>JavaScript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A168E62-F382-4AE3-B62E-425BDF558FC1}"/>
              </a:ext>
            </a:extLst>
          </p:cNvPr>
          <p:cNvSpPr>
            <a:spLocks noGrp="1"/>
          </p:cNvSpPr>
          <p:nvPr/>
        </p:nvSpPr>
        <p:spPr>
          <a:xfrm>
            <a:off x="8191500" y="3543300"/>
            <a:ext cx="2781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E5D52"/>
                </a:solidFill>
              </a:defRPr>
            </a:pPr>
            <a:r>
              <a:rPr sz="1425" b="0">
                <a:solidFill>
                  <a:srgbClr val="6E5D52"/>
                </a:solidFill>
              </a:rPr>
              <a:t>Vier kleine Dateien steuern Menü, Newsfeed, Quiz und externe Medien.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62BABBF-CEAA-4079-A387-6AF3CB7A9F8E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A84C2F"/>
                </a:solidFill>
              </a:defRPr>
            </a:pPr>
            <a:r>
              <a:rPr sz="1650" b="1">
                <a:solidFill>
                  <a:srgbClr val="A84C2F"/>
                </a:solidFill>
              </a:rPr>
              <a:t>Kein Backend, keine Datenbank, keine KI-API: Alle Inhalte und Interaktionen laufen lokal im Browser.</a:t>
            </a:r>
          </a:p>
        </p:txBody>
      </p:sp>
      <p:sp>
        <p:nvSpPr>
          <p:cNvPr id="19" name="Gerader Verbinder 18">
            <a:extLst>
              <a:ext uri="{FF2B5EF4-FFF2-40B4-BE49-F238E27FC236}">
                <a16:creationId xmlns:a16="http://schemas.microsoft.com/office/drawing/2014/main" id="{BF169533-ECEC-4A23-894A-A4C09DB7595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C1C3E4A-4688-4489-BC21-86EDDB4A6A8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532C8A1-EEAD-440D-B0E9-2025227173A5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9276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8F7714FD-8C03-4AFE-B613-F322DC07072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04 - LAYOUT UND DESIGN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553B9D5-FC50-4B3A-A11B-9544CE64C7E1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Ein warmes Designsystem verbindet alle Seiten</a:t>
            </a:r>
          </a:p>
        </p:txBody>
      </p:sp>
      <p:pic>
        <p:nvPicPr>
          <p:cNvPr id="24" name="Grafik 23"/>
          <p:cNvPicPr>
            <a:picLocks noChangeAspect="1"/>
          </p:cNvPicPr>
          <p:nvPr/>
        </p:nvPicPr>
        <p:blipFill>
          <a:blip r:embed="rId3"/>
          <a:srcRect l="12102" r="12102"/>
          <a:stretch>
            <a:fillRect/>
          </a:stretch>
        </p:blipFill>
        <p:spPr>
          <a:xfrm>
            <a:off x="7067550" y="1809750"/>
            <a:ext cx="4438650" cy="3905250"/>
          </a:xfrm>
          <a:prstGeom prst="roundRect">
            <a:avLst>
              <a:gd name="adj" fmla="val 3902"/>
            </a:avLst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B55E000-DABA-4653-8A0A-5448AD218F12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9953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C35F357-D782-4FDB-9CD8-B78DB8799E37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2C9D0FA-F279-4F1D-8820-54E8DF774557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537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Flexbox und CSS Grid für flexible Spalten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3B1E4AA-888E-491B-A705-658BD01661A2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9953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278ABDF-07D8-4770-AA53-DC588B759AA7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F27D2E-10C6-482D-861A-C494CFD91DDF}"/>
              </a:ext>
            </a:extLst>
          </p:cNvPr>
          <p:cNvSpPr>
            <a:spLocks noGrp="1"/>
          </p:cNvSpPr>
          <p:nvPr/>
        </p:nvSpPr>
        <p:spPr>
          <a:xfrm>
            <a:off x="1123950" y="2762250"/>
            <a:ext cx="537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warme Beige-, Orange- und Goldtöne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770E3180-05D0-4DD1-A525-A5C3DBB23B17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9953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B8064FA-9FF7-459A-AF6D-7EB19DEE6F26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9F8E98E-9ADE-4D41-8A9A-78B40D0BA92D}"/>
              </a:ext>
            </a:extLst>
          </p:cNvPr>
          <p:cNvSpPr>
            <a:spLocks noGrp="1"/>
          </p:cNvSpPr>
          <p:nvPr/>
        </p:nvSpPr>
        <p:spPr>
          <a:xfrm>
            <a:off x="1123950" y="3486150"/>
            <a:ext cx="537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responsive Ansichten für Desktop, Tablet und Smartphone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B65AA418-CD14-45F0-BEBF-338E27F9564F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9953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DF486C4-B4A1-4148-A8A1-37C213473F96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C6234A8-143B-4A4C-B56D-7F08F7825F45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537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sichtbare Fokuszustände und reduzierte Bewegung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76FBAB0D-B263-4686-BD9A-556AFA49B336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5810250" cy="666750"/>
          </a:xfrm>
          <a:prstGeom prst="roundRect">
            <a:avLst>
              <a:gd name="adj" fmla="val 17143"/>
            </a:avLst>
          </a:prstGeom>
          <a:solidFill>
            <a:srgbClr val="E4D2B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10B07F2-3C97-4FA9-872B-29418E824309}"/>
              </a:ext>
            </a:extLst>
          </p:cNvPr>
          <p:cNvSpPr>
            <a:spLocks noGrp="1"/>
          </p:cNvSpPr>
          <p:nvPr/>
        </p:nvSpPr>
        <p:spPr>
          <a:xfrm>
            <a:off x="914400" y="5305425"/>
            <a:ext cx="5353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42A24"/>
                </a:solidFill>
              </a:defRPr>
            </a:pPr>
            <a:r>
              <a:rPr sz="1425" b="1">
                <a:solidFill>
                  <a:srgbClr val="342A24"/>
                </a:solidFill>
              </a:rPr>
              <a:t>Einheitliche Farben, Abstände, Radien und Schatten werden zentral als CSS-Variablen gepflegt.</a:t>
            </a:r>
          </a:p>
        </p:txBody>
      </p:sp>
      <p:sp>
        <p:nvSpPr>
          <p:cNvPr id="18" name="Gerader Verbinder 17">
            <a:extLst>
              <a:ext uri="{FF2B5EF4-FFF2-40B4-BE49-F238E27FC236}">
                <a16:creationId xmlns:a16="http://schemas.microsoft.com/office/drawing/2014/main" id="{D7BABA88-530C-4C30-B867-B96F164A8D7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46DA7DA-D81D-46BD-B3D4-6D843040516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3D238E3-E3AC-493F-91F7-162EE49F238D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3583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24CCD91F-7835-4C13-8091-AADCAAB2B24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05 - JAVASCRIPT UND BENUTZERERLEBNIS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DDC61B5-5B1D-4347-B72A-D55E7BEE04E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Interaktivität ergänzt den Inhalt - ohne die Seite zu überladen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046949EB-EA6D-4FA4-BB5E-2CC2FE8939FF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10820400" cy="1009650"/>
          </a:xfrm>
          <a:prstGeom prst="roundRect">
            <a:avLst>
              <a:gd name="adj" fmla="val 15094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C89984F-C4AB-4691-81E4-2B59CB48D5F9}"/>
              </a:ext>
            </a:extLst>
          </p:cNvPr>
          <p:cNvSpPr>
            <a:spLocks noGrp="1"/>
          </p:cNvSpPr>
          <p:nvPr/>
        </p:nvSpPr>
        <p:spPr>
          <a:xfrm>
            <a:off x="971550" y="21526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A84C2F"/>
                </a:solidFill>
              </a:defRPr>
            </a:pPr>
            <a:r>
              <a:rPr sz="1875" b="1">
                <a:solidFill>
                  <a:srgbClr val="A84C2F"/>
                </a:solidFill>
              </a:rPr>
              <a:t>Newsfeed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2584E0-3123-49A2-9B97-6CDBBCE3C990}"/>
              </a:ext>
            </a:extLst>
          </p:cNvPr>
          <p:cNvSpPr>
            <a:spLocks noGrp="1"/>
          </p:cNvSpPr>
          <p:nvPr/>
        </p:nvSpPr>
        <p:spPr>
          <a:xfrm>
            <a:off x="2952750" y="2114550"/>
            <a:ext cx="8077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5D52"/>
                </a:solidFill>
              </a:defRPr>
            </a:pPr>
            <a:r>
              <a:rPr sz="1500" b="0">
                <a:solidFill>
                  <a:srgbClr val="6E5D52"/>
                </a:solidFill>
              </a:rPr>
              <a:t>25 lokale Beiträge wechseln automatisch. Pfeile und Fortschrittsleiste erlauben manuelle Steuerung.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D74B8E0-1E62-4A64-9050-33866F09B25F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820400" cy="1009650"/>
          </a:xfrm>
          <a:prstGeom prst="roundRect">
            <a:avLst>
              <a:gd name="adj" fmla="val 15094"/>
            </a:avLst>
          </a:prstGeom>
          <a:solidFill>
            <a:srgbClr val="F4E5C8"/>
          </a:solidFill>
          <a:ln w="9525">
            <a:solidFill>
              <a:srgbClr val="CDB9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EE815E1-DDA2-4BAA-A3D9-D1EE93BD82AD}"/>
              </a:ext>
            </a:extLst>
          </p:cNvPr>
          <p:cNvSpPr>
            <a:spLocks noGrp="1"/>
          </p:cNvSpPr>
          <p:nvPr/>
        </p:nvSpPr>
        <p:spPr>
          <a:xfrm>
            <a:off x="971550" y="34099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42A24"/>
                </a:solidFill>
              </a:defRPr>
            </a:pPr>
            <a:r>
              <a:rPr sz="1875" b="1">
                <a:solidFill>
                  <a:srgbClr val="342A24"/>
                </a:solidFill>
              </a:rPr>
              <a:t>Quiz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5806025-A744-4563-A1DF-7EB354E98BB6}"/>
              </a:ext>
            </a:extLst>
          </p:cNvPr>
          <p:cNvSpPr>
            <a:spLocks noGrp="1"/>
          </p:cNvSpPr>
          <p:nvPr/>
        </p:nvSpPr>
        <p:spPr>
          <a:xfrm>
            <a:off x="2952750" y="3371850"/>
            <a:ext cx="8077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5D52"/>
                </a:solidFill>
              </a:defRPr>
            </a:pPr>
            <a:r>
              <a:rPr sz="1500" b="0">
                <a:solidFill>
                  <a:srgbClr val="6E5D52"/>
                </a:solidFill>
              </a:rPr>
              <a:t>Aus 100 Fragen werden zufällig zehn ausgewählt. Erklärungen helfen auch nach falschen Antworten.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57EDE10-F29B-42A0-AB73-08DB416B29CD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10820400" cy="1009650"/>
          </a:xfrm>
          <a:prstGeom prst="roundRect">
            <a:avLst>
              <a:gd name="adj" fmla="val 15094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21755FC-62FF-4BC9-B0D7-61BFE087F887}"/>
              </a:ext>
            </a:extLst>
          </p:cNvPr>
          <p:cNvSpPr>
            <a:spLocks noGrp="1"/>
          </p:cNvSpPr>
          <p:nvPr/>
        </p:nvSpPr>
        <p:spPr>
          <a:xfrm>
            <a:off x="971550" y="46672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A84C2F"/>
                </a:solidFill>
              </a:defRPr>
            </a:pPr>
            <a:r>
              <a:rPr sz="1875" b="1">
                <a:solidFill>
                  <a:srgbClr val="A84C2F"/>
                </a:solidFill>
              </a:rPr>
              <a:t>Medien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4D2962F-9B17-40B2-8803-75C957804161}"/>
              </a:ext>
            </a:extLst>
          </p:cNvPr>
          <p:cNvSpPr>
            <a:spLocks noGrp="1"/>
          </p:cNvSpPr>
          <p:nvPr/>
        </p:nvSpPr>
        <p:spPr>
          <a:xfrm>
            <a:off x="2952750" y="4629150"/>
            <a:ext cx="8077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5D52"/>
                </a:solidFill>
              </a:defRPr>
            </a:pPr>
            <a:r>
              <a:rPr sz="1500" b="0">
                <a:solidFill>
                  <a:srgbClr val="6E5D52"/>
                </a:solidFill>
              </a:rPr>
              <a:t>Externe Videos oder Beiträge laden erst nach einem bewussten Klick. Vorher bleibt alles lokal.</a:t>
            </a:r>
          </a:p>
        </p:txBody>
      </p:sp>
      <p:sp>
        <p:nvSpPr>
          <p:cNvPr id="12" name="Gerader Verbinder 11">
            <a:extLst>
              <a:ext uri="{FF2B5EF4-FFF2-40B4-BE49-F238E27FC236}">
                <a16:creationId xmlns:a16="http://schemas.microsoft.com/office/drawing/2014/main" id="{4AA071D2-401A-40F4-9134-A0973E360F1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1985D6A-D7B7-4CA7-9BAD-6DF69EBEEF60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5EFAA73-61C7-4028-B4A4-ACB15E3B67A3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839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2DEAABE3-B082-4515-86AE-383E03A6F13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06 - INHALTLICHE QUALITÄT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7B76533-A0BC-4519-8C41-18F94FF25C7F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Reale Beispiele machen Chancen und Grenzen überprüfbar</a:t>
            </a:r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3"/>
          <a:srcRect l="9988" r="9988"/>
          <a:stretch>
            <a:fillRect/>
          </a:stretch>
        </p:blipFill>
        <p:spPr>
          <a:xfrm>
            <a:off x="685800" y="1885950"/>
            <a:ext cx="3429000" cy="2857500"/>
          </a:xfrm>
          <a:prstGeom prst="roundRect">
            <a:avLst>
              <a:gd name="adj" fmla="val 5333"/>
            </a:avLst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4"/>
          <a:srcRect l="9988" r="9988"/>
          <a:stretch>
            <a:fillRect/>
          </a:stretch>
        </p:blipFill>
        <p:spPr>
          <a:xfrm>
            <a:off x="4381500" y="1885950"/>
            <a:ext cx="3429000" cy="2857500"/>
          </a:xfrm>
          <a:prstGeom prst="roundRect">
            <a:avLst>
              <a:gd name="adj" fmla="val 5333"/>
            </a:avLst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5"/>
          <a:srcRect t="8333" b="8333"/>
          <a:stretch>
            <a:fillRect/>
          </a:stretch>
        </p:blipFill>
        <p:spPr>
          <a:xfrm>
            <a:off x="8077200" y="1885950"/>
            <a:ext cx="3429000" cy="2857500"/>
          </a:xfrm>
          <a:prstGeom prst="roundRect">
            <a:avLst>
              <a:gd name="adj" fmla="val 5333"/>
            </a:avLst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2AA8CFE-30CE-41F5-BB70-EB394C64E5E9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A84C2F"/>
                </a:solidFill>
              </a:defRPr>
            </a:pPr>
            <a:r>
              <a:rPr sz="1425" b="1">
                <a:solidFill>
                  <a:srgbClr val="A84C2F"/>
                </a:solidFill>
              </a:rPr>
              <a:t>FDA und WHO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6E11A9C-1EFE-42B7-8941-5BE74CCB7EA9}"/>
              </a:ext>
            </a:extLst>
          </p:cNvPr>
          <p:cNvSpPr>
            <a:spLocks noGrp="1"/>
          </p:cNvSpPr>
          <p:nvPr/>
        </p:nvSpPr>
        <p:spPr>
          <a:xfrm>
            <a:off x="4381500" y="48387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A84C2F"/>
                </a:solidFill>
              </a:defRPr>
            </a:pPr>
            <a:r>
              <a:rPr sz="1425" b="1">
                <a:solidFill>
                  <a:srgbClr val="A84C2F"/>
                </a:solidFill>
              </a:rPr>
              <a:t>Waymo und NHTSA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6317AFF-E620-493A-A652-A3C523D077FC}"/>
              </a:ext>
            </a:extLst>
          </p:cNvPr>
          <p:cNvSpPr>
            <a:spLocks noGrp="1"/>
          </p:cNvSpPr>
          <p:nvPr/>
        </p:nvSpPr>
        <p:spPr>
          <a:xfrm>
            <a:off x="8077200" y="48387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A84C2F"/>
                </a:solidFill>
              </a:defRPr>
            </a:pPr>
            <a:r>
              <a:rPr sz="1425" b="1">
                <a:solidFill>
                  <a:srgbClr val="A84C2F"/>
                </a:solidFill>
              </a:rPr>
              <a:t>OpenAI und Google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1024C48-6B64-445B-9971-A28F1C7A4413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6E5D52"/>
                </a:solidFill>
              </a:defRPr>
            </a:pPr>
            <a:r>
              <a:rPr sz="1425" b="1">
                <a:solidFill>
                  <a:srgbClr val="6E5D52"/>
                </a:solidFill>
              </a:rPr>
              <a:t>Weitere Quellen: KMK, Hochschulforum Digitalisierung, Adobe und ClinicalTrials.gov</a:t>
            </a:r>
          </a:p>
        </p:txBody>
      </p:sp>
      <p:sp>
        <p:nvSpPr>
          <p:cNvPr id="10" name="Gerader Verbinder 9">
            <a:extLst>
              <a:ext uri="{FF2B5EF4-FFF2-40B4-BE49-F238E27FC236}">
                <a16:creationId xmlns:a16="http://schemas.microsoft.com/office/drawing/2014/main" id="{10D88FD9-03BF-42AD-A9B4-8BD050E4718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7BCE370-44BC-4D57-BEAF-B36ACF679400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A9DA2B5-6DC9-4AEB-8790-548A3517620C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2889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 26">
            <a:extLst>
              <a:ext uri="{FF2B5EF4-FFF2-40B4-BE49-F238E27FC236}">
                <a16:creationId xmlns:a16="http://schemas.microsoft.com/office/drawing/2014/main" id="{CD47315C-A345-4F94-B49B-6855BB3DF4A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934236"/>
                </a:solidFill>
              </a:defRPr>
            </a:pPr>
            <a:r>
              <a:rPr sz="1125" b="1">
                <a:solidFill>
                  <a:srgbClr val="934236"/>
                </a:solidFill>
              </a:rPr>
              <a:t>07 - PROBLEME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92A4F2D-23CA-4CB4-93D3-E55B3B43BA36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Die größten Schwierigkeiten lagen in Konsistenz und Interaktion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C000395E-A1AA-44B7-A9A9-D5690700DB52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5314950" cy="1562100"/>
          </a:xfrm>
          <a:prstGeom prst="roundRect">
            <a:avLst>
              <a:gd name="adj" fmla="val 9756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0D47092-6CEF-4891-AA0D-180C247395EB}"/>
              </a:ext>
            </a:extLst>
          </p:cNvPr>
          <p:cNvSpPr>
            <a:spLocks noGrp="1"/>
          </p:cNvSpPr>
          <p:nvPr/>
        </p:nvSpPr>
        <p:spPr>
          <a:xfrm>
            <a:off x="914400" y="217170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BBC4EBAE-26DC-4EA5-8F5C-1D0B98CB42D1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628650" cy="419100"/>
          </a:xfrm>
          <a:prstGeom prst="roundRect">
            <a:avLst>
              <a:gd name="adj" fmla="val 27273"/>
            </a:avLst>
          </a:prstGeom>
          <a:solidFill>
            <a:srgbClr val="934236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CD96BB4-747A-4F6E-B13A-305F6DE26D84}"/>
              </a:ext>
            </a:extLst>
          </p:cNvPr>
          <p:cNvSpPr>
            <a:spLocks noGrp="1"/>
          </p:cNvSpPr>
          <p:nvPr/>
        </p:nvSpPr>
        <p:spPr>
          <a:xfrm>
            <a:off x="1714500" y="215265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42A24"/>
                </a:solidFill>
              </a:defRPr>
            </a:pPr>
            <a:r>
              <a:rPr sz="1725" b="1">
                <a:solidFill>
                  <a:srgbClr val="342A24"/>
                </a:solidFill>
              </a:rPr>
              <a:t>Design-Mischung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A17FD94-B6DC-4D62-AACB-C8A0F1F8F4AD}"/>
              </a:ext>
            </a:extLst>
          </p:cNvPr>
          <p:cNvSpPr>
            <a:spLocks noGrp="1"/>
          </p:cNvSpPr>
          <p:nvPr/>
        </p:nvSpPr>
        <p:spPr>
          <a:xfrm>
            <a:off x="1714500" y="2590800"/>
            <a:ext cx="390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5D52"/>
                </a:solidFill>
              </a:defRPr>
            </a:pPr>
            <a:r>
              <a:rPr sz="1350" b="0">
                <a:solidFill>
                  <a:srgbClr val="6E5D52"/>
                </a:solidFill>
              </a:rPr>
              <a:t>Alte Retro-Regeln und neue moderne Regeln widersprachen sich.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ADB76266-E7D5-4721-A00D-F1B07851DA53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5314950" cy="1562100"/>
          </a:xfrm>
          <a:prstGeom prst="roundRect">
            <a:avLst>
              <a:gd name="adj" fmla="val 9756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271AAAC-FD3E-482E-9F55-9E551E16C3AB}"/>
              </a:ext>
            </a:extLst>
          </p:cNvPr>
          <p:cNvSpPr>
            <a:spLocks noGrp="1"/>
          </p:cNvSpPr>
          <p:nvPr/>
        </p:nvSpPr>
        <p:spPr>
          <a:xfrm>
            <a:off x="6419850" y="217170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53BE5AA-5FA1-4A10-B61D-2EC441BF8F5D}"/>
              </a:ext>
            </a:extLst>
          </p:cNvPr>
          <p:cNvSpPr>
            <a:spLocks noGrp="1"/>
          </p:cNvSpPr>
          <p:nvPr/>
        </p:nvSpPr>
        <p:spPr>
          <a:xfrm>
            <a:off x="6381750" y="2152650"/>
            <a:ext cx="628650" cy="419100"/>
          </a:xfrm>
          <a:prstGeom prst="roundRect">
            <a:avLst>
              <a:gd name="adj" fmla="val 27273"/>
            </a:avLst>
          </a:prstGeom>
          <a:solidFill>
            <a:srgbClr val="934236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1ADA3E5-01AC-44CA-9A4A-A832A8D71603}"/>
              </a:ext>
            </a:extLst>
          </p:cNvPr>
          <p:cNvSpPr>
            <a:spLocks noGrp="1"/>
          </p:cNvSpPr>
          <p:nvPr/>
        </p:nvSpPr>
        <p:spPr>
          <a:xfrm>
            <a:off x="7219950" y="215265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42A24"/>
                </a:solidFill>
              </a:defRPr>
            </a:pPr>
            <a:r>
              <a:rPr sz="1725" b="1">
                <a:solidFill>
                  <a:srgbClr val="342A24"/>
                </a:solidFill>
              </a:rPr>
              <a:t>Lesbarkeit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A4FF873-B34A-44FE-BC47-78BAD104900E}"/>
              </a:ext>
            </a:extLst>
          </p:cNvPr>
          <p:cNvSpPr>
            <a:spLocks noGrp="1"/>
          </p:cNvSpPr>
          <p:nvPr/>
        </p:nvSpPr>
        <p:spPr>
          <a:xfrm>
            <a:off x="7219950" y="2590800"/>
            <a:ext cx="390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5D52"/>
                </a:solidFill>
              </a:defRPr>
            </a:pPr>
            <a:r>
              <a:rPr sz="1350" b="0">
                <a:solidFill>
                  <a:srgbClr val="6E5D52"/>
                </a:solidFill>
              </a:rPr>
              <a:t>Einige Farben waren zu hell, Kartenrückseiten wirkten unscharf.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1FD04F5-7B21-4F5A-8B12-093D24471B70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5314950" cy="1562100"/>
          </a:xfrm>
          <a:prstGeom prst="roundRect">
            <a:avLst>
              <a:gd name="adj" fmla="val 9756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25CAF1A-F7BF-4D13-A04C-488985D4C2CE}"/>
              </a:ext>
            </a:extLst>
          </p:cNvPr>
          <p:cNvSpPr>
            <a:spLocks noGrp="1"/>
          </p:cNvSpPr>
          <p:nvPr/>
        </p:nvSpPr>
        <p:spPr>
          <a:xfrm>
            <a:off x="914400" y="40957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53C66B4B-D002-4E1C-9686-F8BBA1589ABD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628650" cy="419100"/>
          </a:xfrm>
          <a:prstGeom prst="roundRect">
            <a:avLst>
              <a:gd name="adj" fmla="val 27273"/>
            </a:avLst>
          </a:prstGeom>
          <a:solidFill>
            <a:srgbClr val="934236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2C5C24A-82DB-4944-916C-7BEFC7AB4E7E}"/>
              </a:ext>
            </a:extLst>
          </p:cNvPr>
          <p:cNvSpPr>
            <a:spLocks noGrp="1"/>
          </p:cNvSpPr>
          <p:nvPr/>
        </p:nvSpPr>
        <p:spPr>
          <a:xfrm>
            <a:off x="1714500" y="407670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42A24"/>
                </a:solidFill>
              </a:defRPr>
            </a:pPr>
            <a:r>
              <a:rPr sz="1725" b="1">
                <a:solidFill>
                  <a:srgbClr val="342A24"/>
                </a:solidFill>
              </a:rPr>
              <a:t>Newsfeed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E79E243-B8AF-4DA5-A757-7B4D6768CD67}"/>
              </a:ext>
            </a:extLst>
          </p:cNvPr>
          <p:cNvSpPr>
            <a:spLocks noGrp="1"/>
          </p:cNvSpPr>
          <p:nvPr/>
        </p:nvSpPr>
        <p:spPr>
          <a:xfrm>
            <a:off x="1714500" y="4514850"/>
            <a:ext cx="390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5D52"/>
                </a:solidFill>
              </a:defRPr>
            </a:pPr>
            <a:r>
              <a:rPr sz="1350" b="0">
                <a:solidFill>
                  <a:srgbClr val="6E5D52"/>
                </a:solidFill>
              </a:rPr>
              <a:t>Nach manuellem Wechsel lief die Fortschrittsleiste nicht zuverlässig weiter.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C39D96F9-0071-4B99-BC92-C413B99E4183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5314950" cy="1562100"/>
          </a:xfrm>
          <a:prstGeom prst="roundRect">
            <a:avLst>
              <a:gd name="adj" fmla="val 9756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AA8A662-F083-4D4E-AA23-575FA5F49248}"/>
              </a:ext>
            </a:extLst>
          </p:cNvPr>
          <p:cNvSpPr>
            <a:spLocks noGrp="1"/>
          </p:cNvSpPr>
          <p:nvPr/>
        </p:nvSpPr>
        <p:spPr>
          <a:xfrm>
            <a:off x="6419850" y="40957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A2401088-9ADF-4389-AF04-C8FAFEDEC19D}"/>
              </a:ext>
            </a:extLst>
          </p:cNvPr>
          <p:cNvSpPr>
            <a:spLocks noGrp="1"/>
          </p:cNvSpPr>
          <p:nvPr/>
        </p:nvSpPr>
        <p:spPr>
          <a:xfrm>
            <a:off x="6381750" y="4076700"/>
            <a:ext cx="628650" cy="419100"/>
          </a:xfrm>
          <a:prstGeom prst="roundRect">
            <a:avLst>
              <a:gd name="adj" fmla="val 27273"/>
            </a:avLst>
          </a:prstGeom>
          <a:solidFill>
            <a:srgbClr val="934236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5FB1B36-CEAE-46B5-85E8-D8C2FE11788C}"/>
              </a:ext>
            </a:extLst>
          </p:cNvPr>
          <p:cNvSpPr>
            <a:spLocks noGrp="1"/>
          </p:cNvSpPr>
          <p:nvPr/>
        </p:nvSpPr>
        <p:spPr>
          <a:xfrm>
            <a:off x="7219950" y="407670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42A24"/>
                </a:solidFill>
              </a:defRPr>
            </a:pPr>
            <a:r>
              <a:rPr sz="1725" b="1">
                <a:solidFill>
                  <a:srgbClr val="342A24"/>
                </a:solidFill>
              </a:rPr>
              <a:t>Umfang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9934EB7-BA69-4D66-9DCB-B6247A0AD255}"/>
              </a:ext>
            </a:extLst>
          </p:cNvPr>
          <p:cNvSpPr>
            <a:spLocks noGrp="1"/>
          </p:cNvSpPr>
          <p:nvPr/>
        </p:nvSpPr>
        <p:spPr>
          <a:xfrm>
            <a:off x="7219950" y="4514850"/>
            <a:ext cx="390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5D52"/>
                </a:solidFill>
              </a:defRPr>
            </a:pPr>
            <a:r>
              <a:rPr sz="1350" b="0">
                <a:solidFill>
                  <a:srgbClr val="6E5D52"/>
                </a:solidFill>
              </a:rPr>
              <a:t>Viele Unterseiten, Quellen und Funktionen mussten trotzdem einheitlich bleiben.</a:t>
            </a:r>
          </a:p>
        </p:txBody>
      </p:sp>
      <p:sp>
        <p:nvSpPr>
          <p:cNvPr id="23" name="Gerader Verbinder 22">
            <a:extLst>
              <a:ext uri="{FF2B5EF4-FFF2-40B4-BE49-F238E27FC236}">
                <a16:creationId xmlns:a16="http://schemas.microsoft.com/office/drawing/2014/main" id="{D953870D-379C-44A1-BFD6-1AE47328B29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1B32ED0-C334-4416-A08A-092B100A80F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7568B0-5300-4F14-AEBA-DC416ED955A7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2308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BBF43926-975F-4A12-B14B-613E57BE890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B775A"/>
                </a:solidFill>
              </a:defRPr>
            </a:pPr>
            <a:r>
              <a:rPr sz="1125" b="1">
                <a:solidFill>
                  <a:srgbClr val="6B775A"/>
                </a:solidFill>
              </a:rPr>
              <a:t>08 - PROBLEMBEHEBUNG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F34B505-331E-45A8-B2BC-CCF07FB9AC7E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Wir haben Ursachen schrittweise isoliert und gezielt behoben</a:t>
            </a:r>
          </a:p>
        </p:txBody>
      </p:sp>
      <p:pic>
        <p:nvPicPr>
          <p:cNvPr id="22" name="Grafik 21"/>
          <p:cNvPicPr>
            <a:picLocks noChangeAspect="1"/>
          </p:cNvPicPr>
          <p:nvPr/>
        </p:nvPicPr>
        <p:blipFill>
          <a:blip r:embed="rId3"/>
          <a:srcRect l="12815" r="12815"/>
          <a:stretch>
            <a:fillRect/>
          </a:stretch>
        </p:blipFill>
        <p:spPr>
          <a:xfrm>
            <a:off x="685800" y="1924050"/>
            <a:ext cx="4333875" cy="3886200"/>
          </a:xfrm>
          <a:prstGeom prst="roundRect">
            <a:avLst>
              <a:gd name="adj" fmla="val 3922"/>
            </a:avLst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F416417B-9B5F-4966-9F51-81A6B3CF7134}"/>
              </a:ext>
            </a:extLst>
          </p:cNvPr>
          <p:cNvSpPr>
            <a:spLocks noGrp="1"/>
          </p:cNvSpPr>
          <p:nvPr/>
        </p:nvSpPr>
        <p:spPr>
          <a:xfrm>
            <a:off x="5467350" y="19050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6B775A"/>
                </a:solidFill>
              </a:defRPr>
            </a:pPr>
            <a:r>
              <a:rPr sz="1800" b="1">
                <a:solidFill>
                  <a:srgbClr val="6B775A"/>
                </a:solidFill>
              </a:rPr>
              <a:t>✓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247796A-81E6-4950-B86D-B50B1B900021}"/>
              </a:ext>
            </a:extLst>
          </p:cNvPr>
          <p:cNvSpPr>
            <a:spLocks noGrp="1"/>
          </p:cNvSpPr>
          <p:nvPr/>
        </p:nvSpPr>
        <p:spPr>
          <a:xfrm>
            <a:off x="6000750" y="1905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CSS bereinigt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16D8C06-2658-4A4D-9555-4E5A8741DB80}"/>
              </a:ext>
            </a:extLst>
          </p:cNvPr>
          <p:cNvSpPr>
            <a:spLocks noGrp="1"/>
          </p:cNvSpPr>
          <p:nvPr/>
        </p:nvSpPr>
        <p:spPr>
          <a:xfrm>
            <a:off x="8058150" y="1876425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Eine zentrale Designschicht und gemeinsame Variablen ersetzen widersprüchliche Farben.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CB934F5-92E3-4382-8450-3BE299F40635}"/>
              </a:ext>
            </a:extLst>
          </p:cNvPr>
          <p:cNvSpPr>
            <a:spLocks noGrp="1"/>
          </p:cNvSpPr>
          <p:nvPr/>
        </p:nvSpPr>
        <p:spPr>
          <a:xfrm>
            <a:off x="5467350" y="2838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6B775A"/>
                </a:solidFill>
              </a:defRPr>
            </a:pPr>
            <a:r>
              <a:rPr sz="1800" b="1">
                <a:solidFill>
                  <a:srgbClr val="6B775A"/>
                </a:solidFill>
              </a:rPr>
              <a:t>✓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39D494C-073D-4F7C-A39D-8510C622F5DB}"/>
              </a:ext>
            </a:extLst>
          </p:cNvPr>
          <p:cNvSpPr>
            <a:spLocks noGrp="1"/>
          </p:cNvSpPr>
          <p:nvPr/>
        </p:nvSpPr>
        <p:spPr>
          <a:xfrm>
            <a:off x="6000750" y="28384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Animationen angepasst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4E4EFFC-D376-4C0F-B88A-1DD1C77E89DD}"/>
              </a:ext>
            </a:extLst>
          </p:cNvPr>
          <p:cNvSpPr>
            <a:spLocks noGrp="1"/>
          </p:cNvSpPr>
          <p:nvPr/>
        </p:nvSpPr>
        <p:spPr>
          <a:xfrm>
            <a:off x="8058150" y="2809875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Drehgeschwindigkeit, Kartengröße und Textdarstellung wurden mehrfach getestet.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FF22749-A47B-4101-9C5F-ED65F311D614}"/>
              </a:ext>
            </a:extLst>
          </p:cNvPr>
          <p:cNvSpPr>
            <a:spLocks noGrp="1"/>
          </p:cNvSpPr>
          <p:nvPr/>
        </p:nvSpPr>
        <p:spPr>
          <a:xfrm>
            <a:off x="5467350" y="3771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6B775A"/>
                </a:solidFill>
              </a:defRPr>
            </a:pPr>
            <a:r>
              <a:rPr sz="1800" b="1">
                <a:solidFill>
                  <a:srgbClr val="6B775A"/>
                </a:solidFill>
              </a:rPr>
              <a:t>✓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41CBC00-F8B4-453A-83D4-343E37496226}"/>
              </a:ext>
            </a:extLst>
          </p:cNvPr>
          <p:cNvSpPr>
            <a:spLocks noGrp="1"/>
          </p:cNvSpPr>
          <p:nvPr/>
        </p:nvSpPr>
        <p:spPr>
          <a:xfrm>
            <a:off x="6000750" y="37719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JavaScript korrigiert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990CDB1-AF1A-4605-8D33-73E79ACA0C8B}"/>
              </a:ext>
            </a:extLst>
          </p:cNvPr>
          <p:cNvSpPr>
            <a:spLocks noGrp="1"/>
          </p:cNvSpPr>
          <p:nvPr/>
        </p:nvSpPr>
        <p:spPr>
          <a:xfrm>
            <a:off x="8058150" y="3743325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Timer und Fortschrittsleiste werden nach Pfeilklicks sauber neu gestartet.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1761F29-7A60-468F-B045-3F34CC331C3A}"/>
              </a:ext>
            </a:extLst>
          </p:cNvPr>
          <p:cNvSpPr>
            <a:spLocks noGrp="1"/>
          </p:cNvSpPr>
          <p:nvPr/>
        </p:nvSpPr>
        <p:spPr>
          <a:xfrm>
            <a:off x="5467350" y="4705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6B775A"/>
                </a:solidFill>
              </a:defRPr>
            </a:pPr>
            <a:r>
              <a:rPr sz="1800" b="1">
                <a:solidFill>
                  <a:srgbClr val="6B775A"/>
                </a:solidFill>
              </a:rPr>
              <a:t>✓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717B601-3BEE-419E-A8F4-8283DE0CD9EE}"/>
              </a:ext>
            </a:extLst>
          </p:cNvPr>
          <p:cNvSpPr>
            <a:spLocks noGrp="1"/>
          </p:cNvSpPr>
          <p:nvPr/>
        </p:nvSpPr>
        <p:spPr>
          <a:xfrm>
            <a:off x="6000750" y="47053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Datenschutz verbessert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5576011-5460-4414-BB33-D02E9DCAA067}"/>
              </a:ext>
            </a:extLst>
          </p:cNvPr>
          <p:cNvSpPr>
            <a:spLocks noGrp="1"/>
          </p:cNvSpPr>
          <p:nvPr/>
        </p:nvSpPr>
        <p:spPr>
          <a:xfrm>
            <a:off x="8058150" y="4676775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Externe Inhalte werden nur nach Zustimmung geladen und haben einen Direktlink.</a:t>
            </a:r>
          </a:p>
        </p:txBody>
      </p:sp>
      <p:sp>
        <p:nvSpPr>
          <p:cNvPr id="16" name="Gerader Verbinder 15">
            <a:extLst>
              <a:ext uri="{FF2B5EF4-FFF2-40B4-BE49-F238E27FC236}">
                <a16:creationId xmlns:a16="http://schemas.microsoft.com/office/drawing/2014/main" id="{233716F1-7FE4-4BE1-A361-CAA3FCDB394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D32B118-9BBA-46C1-875A-5816D0C9242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6B1A57E-0E6F-445E-8E17-A66ADDAC82F8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728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hteck 29">
            <a:extLst>
              <a:ext uri="{FF2B5EF4-FFF2-40B4-BE49-F238E27FC236}">
                <a16:creationId xmlns:a16="http://schemas.microsoft.com/office/drawing/2014/main" id="{93DB2B46-733D-4CB9-AD77-BCEB2B1C49F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09 - ABLAUF DER WOCHE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B101B29-15A6-4FFE-B7E8-5FD46D0395E3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Vom Thema zur getesteten Website in fünf Etappen</a:t>
            </a:r>
          </a:p>
        </p:txBody>
      </p:sp>
      <p:sp>
        <p:nvSpPr>
          <p:cNvPr id="3" name="Gerader Verbinder 2">
            <a:extLst>
              <a:ext uri="{FF2B5EF4-FFF2-40B4-BE49-F238E27FC236}">
                <a16:creationId xmlns:a16="http://schemas.microsoft.com/office/drawing/2014/main" id="{C7C07379-55AD-4F05-8994-F05F53577134}"/>
              </a:ext>
            </a:extLst>
          </p:cNvPr>
          <p:cNvSpPr>
            <a:spLocks noGrp="1"/>
          </p:cNvSpPr>
          <p:nvPr/>
        </p:nvSpPr>
        <p:spPr>
          <a:xfrm>
            <a:off x="1238250" y="2876550"/>
            <a:ext cx="9715500" cy="0"/>
          </a:xfrm>
          <a:prstGeom prst="line">
            <a:avLst/>
          </a:prstGeom>
          <a:noFill/>
          <a:ln w="47625">
            <a:solidFill>
              <a:srgbClr val="C9953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DBB7DB5-75C0-4C53-A214-494C42B11BAF}"/>
              </a:ext>
            </a:extLst>
          </p:cNvPr>
          <p:cNvSpPr>
            <a:spLocks noGrp="1"/>
          </p:cNvSpPr>
          <p:nvPr/>
        </p:nvSpPr>
        <p:spPr>
          <a:xfrm>
            <a:off x="1209675" y="24574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C9953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1AB3052-A669-4365-8FA1-DBAD1CEE4F3E}"/>
              </a:ext>
            </a:extLst>
          </p:cNvPr>
          <p:cNvSpPr>
            <a:spLocks noGrp="1"/>
          </p:cNvSpPr>
          <p:nvPr/>
        </p:nvSpPr>
        <p:spPr>
          <a:xfrm>
            <a:off x="1209675" y="245745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EE26113-239E-482F-9FE0-60891A9B7C3B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163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Planen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85E0489-D175-4D52-8386-90CF933D9EC1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638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Thema, Zielgruppe und Seitenstruktur festlegen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DF0F76E7-1C9A-403A-8C53-E77CC4CC9EAF}"/>
              </a:ext>
            </a:extLst>
          </p:cNvPr>
          <p:cNvSpPr>
            <a:spLocks noGrp="1"/>
          </p:cNvSpPr>
          <p:nvPr/>
        </p:nvSpPr>
        <p:spPr>
          <a:xfrm>
            <a:off x="3381375" y="24574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C9953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C4234C7-A225-4C64-B92C-1DFC384A550D}"/>
              </a:ext>
            </a:extLst>
          </p:cNvPr>
          <p:cNvSpPr>
            <a:spLocks noGrp="1"/>
          </p:cNvSpPr>
          <p:nvPr/>
        </p:nvSpPr>
        <p:spPr>
          <a:xfrm>
            <a:off x="3381375" y="245745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2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53AD6DA-1B4F-483E-8DB6-148B1C0E3C9D}"/>
              </a:ext>
            </a:extLst>
          </p:cNvPr>
          <p:cNvSpPr>
            <a:spLocks noGrp="1"/>
          </p:cNvSpPr>
          <p:nvPr/>
        </p:nvSpPr>
        <p:spPr>
          <a:xfrm>
            <a:off x="2857500" y="3295650"/>
            <a:ext cx="163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Grundgerüst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84A551D-B848-494F-A847-6284D1F9E9A3}"/>
              </a:ext>
            </a:extLst>
          </p:cNvPr>
          <p:cNvSpPr>
            <a:spLocks noGrp="1"/>
          </p:cNvSpPr>
          <p:nvPr/>
        </p:nvSpPr>
        <p:spPr>
          <a:xfrm>
            <a:off x="2857500" y="3752850"/>
            <a:ext cx="1638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HTML-Seiten und Navigation aufbauen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41D2B58-7148-405F-B448-A2C92BB2EC90}"/>
              </a:ext>
            </a:extLst>
          </p:cNvPr>
          <p:cNvSpPr>
            <a:spLocks noGrp="1"/>
          </p:cNvSpPr>
          <p:nvPr/>
        </p:nvSpPr>
        <p:spPr>
          <a:xfrm>
            <a:off x="5553075" y="24574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C9953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60D1ADB-700A-4DC0-AB6F-F383A0C35211}"/>
              </a:ext>
            </a:extLst>
          </p:cNvPr>
          <p:cNvSpPr>
            <a:spLocks noGrp="1"/>
          </p:cNvSpPr>
          <p:nvPr/>
        </p:nvSpPr>
        <p:spPr>
          <a:xfrm>
            <a:off x="5553075" y="245745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3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D2F71BF-DFB0-481C-AF42-BDB823047B73}"/>
              </a:ext>
            </a:extLst>
          </p:cNvPr>
          <p:cNvSpPr>
            <a:spLocks noGrp="1"/>
          </p:cNvSpPr>
          <p:nvPr/>
        </p:nvSpPr>
        <p:spPr>
          <a:xfrm>
            <a:off x="5029200" y="3295650"/>
            <a:ext cx="163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Gestalten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8A8B214-3592-4E4E-9F0E-F7C7C3873E6B}"/>
              </a:ext>
            </a:extLst>
          </p:cNvPr>
          <p:cNvSpPr>
            <a:spLocks noGrp="1"/>
          </p:cNvSpPr>
          <p:nvPr/>
        </p:nvSpPr>
        <p:spPr>
          <a:xfrm>
            <a:off x="5029200" y="3752850"/>
            <a:ext cx="1638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Layout, Fotos, Farben und responsive Regeln entwickeln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841D5227-2564-4379-A8FC-4353D764886E}"/>
              </a:ext>
            </a:extLst>
          </p:cNvPr>
          <p:cNvSpPr>
            <a:spLocks noGrp="1"/>
          </p:cNvSpPr>
          <p:nvPr/>
        </p:nvSpPr>
        <p:spPr>
          <a:xfrm>
            <a:off x="7724775" y="24574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C9953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BB8AB21-4801-411A-B48D-D57DE202BEDE}"/>
              </a:ext>
            </a:extLst>
          </p:cNvPr>
          <p:cNvSpPr>
            <a:spLocks noGrp="1"/>
          </p:cNvSpPr>
          <p:nvPr/>
        </p:nvSpPr>
        <p:spPr>
          <a:xfrm>
            <a:off x="7724775" y="245745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4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3438B88-F603-496A-90CB-CA43D5826C00}"/>
              </a:ext>
            </a:extLst>
          </p:cNvPr>
          <p:cNvSpPr>
            <a:spLocks noGrp="1"/>
          </p:cNvSpPr>
          <p:nvPr/>
        </p:nvSpPr>
        <p:spPr>
          <a:xfrm>
            <a:off x="7200900" y="3295650"/>
            <a:ext cx="163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Erweitern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741D0FA-CEEA-44BF-A0A8-48CE698A3A1F}"/>
              </a:ext>
            </a:extLst>
          </p:cNvPr>
          <p:cNvSpPr>
            <a:spLocks noGrp="1"/>
          </p:cNvSpPr>
          <p:nvPr/>
        </p:nvSpPr>
        <p:spPr>
          <a:xfrm>
            <a:off x="7200900" y="3752850"/>
            <a:ext cx="1638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Quiz, Newsfeed, Quellen und Medienfreigabe ergänzen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F78FAD94-D67B-4618-8702-075B4877DBFA}"/>
              </a:ext>
            </a:extLst>
          </p:cNvPr>
          <p:cNvSpPr>
            <a:spLocks noGrp="1"/>
          </p:cNvSpPr>
          <p:nvPr/>
        </p:nvSpPr>
        <p:spPr>
          <a:xfrm>
            <a:off x="9896475" y="24574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A32DB8C-6D2E-4771-B22F-B4F59083B509}"/>
              </a:ext>
            </a:extLst>
          </p:cNvPr>
          <p:cNvSpPr>
            <a:spLocks noGrp="1"/>
          </p:cNvSpPr>
          <p:nvPr/>
        </p:nvSpPr>
        <p:spPr>
          <a:xfrm>
            <a:off x="9896475" y="245745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0CC7951-00E3-4E63-AB18-F31208792B58}"/>
              </a:ext>
            </a:extLst>
          </p:cNvPr>
          <p:cNvSpPr>
            <a:spLocks noGrp="1"/>
          </p:cNvSpPr>
          <p:nvPr/>
        </p:nvSpPr>
        <p:spPr>
          <a:xfrm>
            <a:off x="9372600" y="3295650"/>
            <a:ext cx="163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Testen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C7D8CF7-4199-410B-9432-39022F554C8F}"/>
              </a:ext>
            </a:extLst>
          </p:cNvPr>
          <p:cNvSpPr>
            <a:spLocks noGrp="1"/>
          </p:cNvSpPr>
          <p:nvPr/>
        </p:nvSpPr>
        <p:spPr>
          <a:xfrm>
            <a:off x="9372600" y="3752850"/>
            <a:ext cx="1638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Kontraste, Mobilansicht, Links und Fehler prüfen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96655F57-CDCC-4D3A-B642-09DE836B0D20}"/>
              </a:ext>
            </a:extLst>
          </p:cNvPr>
          <p:cNvSpPr>
            <a:spLocks noGrp="1"/>
          </p:cNvSpPr>
          <p:nvPr/>
        </p:nvSpPr>
        <p:spPr>
          <a:xfrm>
            <a:off x="1466850" y="5391150"/>
            <a:ext cx="9258300" cy="514350"/>
          </a:xfrm>
          <a:prstGeom prst="roundRect">
            <a:avLst>
              <a:gd name="adj" fmla="val 50000"/>
            </a:avLst>
          </a:prstGeom>
          <a:solidFill>
            <a:srgbClr val="E4D2B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1F065EC-ABE7-4346-8AA9-30E2D5368EE3}"/>
              </a:ext>
            </a:extLst>
          </p:cNvPr>
          <p:cNvSpPr>
            <a:spLocks noGrp="1"/>
          </p:cNvSpPr>
          <p:nvPr/>
        </p:nvSpPr>
        <p:spPr>
          <a:xfrm>
            <a:off x="1657350" y="5457825"/>
            <a:ext cx="887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42A24"/>
                </a:solidFill>
              </a:defRPr>
            </a:pPr>
            <a:r>
              <a:rPr sz="1425" b="1">
                <a:solidFill>
                  <a:srgbClr val="342A24"/>
                </a:solidFill>
              </a:rPr>
              <a:t>Wichtig: Nach jeder Etappe wurde die Website erneut im Browser geprüft.</a:t>
            </a:r>
          </a:p>
        </p:txBody>
      </p:sp>
      <p:sp>
        <p:nvSpPr>
          <p:cNvPr id="26" name="Gerader Verbinder 25">
            <a:extLst>
              <a:ext uri="{FF2B5EF4-FFF2-40B4-BE49-F238E27FC236}">
                <a16:creationId xmlns:a16="http://schemas.microsoft.com/office/drawing/2014/main" id="{1307C65D-BF20-46BF-95C4-C126A369521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85C1536-2994-4AE3-A10F-CD54EDE3D02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A43EDBD-77D3-4921-8A89-5BCFCD7144FD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4818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36">
            <a:extLst>
              <a:ext uri="{FF2B5EF4-FFF2-40B4-BE49-F238E27FC236}">
                <a16:creationId xmlns:a16="http://schemas.microsoft.com/office/drawing/2014/main" id="{81D56BD6-1F9E-4AB3-B73E-63C8E548865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10 - ANFORDERUNGEN AUS DEM ARBEITSBLATT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3A4FDC1-D6C0-4FCB-A16C-6D74DB996958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Alle technischen Pflichtanforderungen sind sichtbar umgesetzt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537E118-BB3B-49B2-8DA7-F37968F4CD28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314950" cy="933450"/>
          </a:xfrm>
          <a:prstGeom prst="roundRect">
            <a:avLst>
              <a:gd name="adj" fmla="val 12245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9F75ECE-400C-4A5A-AF45-BD63EBE0015E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4F6B07F-9AE8-4BFA-8B6C-8D651258D0F2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8C96E04-5766-4F31-B877-140B02A82250}"/>
              </a:ext>
            </a:extLst>
          </p:cNvPr>
          <p:cNvSpPr>
            <a:spLocks noGrp="1"/>
          </p:cNvSpPr>
          <p:nvPr/>
        </p:nvSpPr>
        <p:spPr>
          <a:xfrm>
            <a:off x="1562100" y="21145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HTML5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E05A652-F38F-4088-8286-6EC755E3A14C}"/>
              </a:ext>
            </a:extLst>
          </p:cNvPr>
          <p:cNvSpPr>
            <a:spLocks noGrp="1"/>
          </p:cNvSpPr>
          <p:nvPr/>
        </p:nvSpPr>
        <p:spPr>
          <a:xfrm>
            <a:off x="1562100" y="24193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semantische Struktur auf allen Seiten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4595A2F-5569-4CAE-A24D-FBB2AD05980B}"/>
              </a:ext>
            </a:extLst>
          </p:cNvPr>
          <p:cNvSpPr>
            <a:spLocks noGrp="1"/>
          </p:cNvSpPr>
          <p:nvPr/>
        </p:nvSpPr>
        <p:spPr>
          <a:xfrm>
            <a:off x="6191250" y="1962150"/>
            <a:ext cx="5314950" cy="933450"/>
          </a:xfrm>
          <a:prstGeom prst="roundRect">
            <a:avLst>
              <a:gd name="adj" fmla="val 12245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49AF29A-8DFA-4FB8-8C07-83DE07CFFF40}"/>
              </a:ext>
            </a:extLst>
          </p:cNvPr>
          <p:cNvSpPr>
            <a:spLocks noGrp="1"/>
          </p:cNvSpPr>
          <p:nvPr/>
        </p:nvSpPr>
        <p:spPr>
          <a:xfrm>
            <a:off x="6381750" y="2171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01BBAA3-5BC5-43F6-8107-AE02358D1DED}"/>
              </a:ext>
            </a:extLst>
          </p:cNvPr>
          <p:cNvSpPr>
            <a:spLocks noGrp="1"/>
          </p:cNvSpPr>
          <p:nvPr/>
        </p:nvSpPr>
        <p:spPr>
          <a:xfrm>
            <a:off x="6381750" y="21717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04AA78-4894-49E1-8C66-C63B98AAF6F9}"/>
              </a:ext>
            </a:extLst>
          </p:cNvPr>
          <p:cNvSpPr>
            <a:spLocks noGrp="1"/>
          </p:cNvSpPr>
          <p:nvPr/>
        </p:nvSpPr>
        <p:spPr>
          <a:xfrm>
            <a:off x="7067550" y="21145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CSS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9C83404-CEBD-4624-B45B-D755ED267343}"/>
              </a:ext>
            </a:extLst>
          </p:cNvPr>
          <p:cNvSpPr>
            <a:spLocks noGrp="1"/>
          </p:cNvSpPr>
          <p:nvPr/>
        </p:nvSpPr>
        <p:spPr>
          <a:xfrm>
            <a:off x="7067550" y="24193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externes, einheitliches Designsystem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BD33C8E8-1DD4-477C-8CB7-B4F021D970B3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314950" cy="933450"/>
          </a:xfrm>
          <a:prstGeom prst="roundRect">
            <a:avLst>
              <a:gd name="adj" fmla="val 12245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4EE05C2-6D61-46DC-B936-EB5328623E01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129512C-A198-4BC8-8864-6CD89C786374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F24F7C2-26D4-4638-97C3-F0A425E14F19}"/>
              </a:ext>
            </a:extLst>
          </p:cNvPr>
          <p:cNvSpPr>
            <a:spLocks noGrp="1"/>
          </p:cNvSpPr>
          <p:nvPr/>
        </p:nvSpPr>
        <p:spPr>
          <a:xfrm>
            <a:off x="1562100" y="32956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Layout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2042AAA-8C0B-4578-B03D-F1154A7FE16C}"/>
              </a:ext>
            </a:extLst>
          </p:cNvPr>
          <p:cNvSpPr>
            <a:spLocks noGrp="1"/>
          </p:cNvSpPr>
          <p:nvPr/>
        </p:nvSpPr>
        <p:spPr>
          <a:xfrm>
            <a:off x="1562100" y="36004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Flexbox und CSS Grid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4F67AB68-706C-46C0-9D96-36E07E5E78D3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5314950" cy="933450"/>
          </a:xfrm>
          <a:prstGeom prst="roundRect">
            <a:avLst>
              <a:gd name="adj" fmla="val 12245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486C1DF-7C72-4DC5-AD33-D61401C648CB}"/>
              </a:ext>
            </a:extLst>
          </p:cNvPr>
          <p:cNvSpPr>
            <a:spLocks noGrp="1"/>
          </p:cNvSpPr>
          <p:nvPr/>
        </p:nvSpPr>
        <p:spPr>
          <a:xfrm>
            <a:off x="6381750" y="33528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B8FCAD7-0F56-4B8A-B9C7-79929AC8DF2F}"/>
              </a:ext>
            </a:extLst>
          </p:cNvPr>
          <p:cNvSpPr>
            <a:spLocks noGrp="1"/>
          </p:cNvSpPr>
          <p:nvPr/>
        </p:nvSpPr>
        <p:spPr>
          <a:xfrm>
            <a:off x="6381750" y="33528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8B9E824-457E-4DFB-AC3C-8220EE13C367}"/>
              </a:ext>
            </a:extLst>
          </p:cNvPr>
          <p:cNvSpPr>
            <a:spLocks noGrp="1"/>
          </p:cNvSpPr>
          <p:nvPr/>
        </p:nvSpPr>
        <p:spPr>
          <a:xfrm>
            <a:off x="7067550" y="32956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Inhalt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50FB35E-AD1F-4BCA-9540-2B7C838B43CD}"/>
              </a:ext>
            </a:extLst>
          </p:cNvPr>
          <p:cNvSpPr>
            <a:spLocks noGrp="1"/>
          </p:cNvSpPr>
          <p:nvPr/>
        </p:nvSpPr>
        <p:spPr>
          <a:xfrm>
            <a:off x="7067550" y="36004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deutlich mehr als drei Abschnitte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955664B3-F300-453F-AE83-20BCAC606D53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5314950" cy="933450"/>
          </a:xfrm>
          <a:prstGeom prst="roundRect">
            <a:avLst>
              <a:gd name="adj" fmla="val 12245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21720B5A-3119-40FC-ADAD-45F4B250482B}"/>
              </a:ext>
            </a:extLst>
          </p:cNvPr>
          <p:cNvSpPr>
            <a:spLocks noGrp="1"/>
          </p:cNvSpPr>
          <p:nvPr/>
        </p:nvSpPr>
        <p:spPr>
          <a:xfrm>
            <a:off x="876300" y="45339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4AA9EE0-297F-41C4-985B-55BD2B6735E2}"/>
              </a:ext>
            </a:extLst>
          </p:cNvPr>
          <p:cNvSpPr>
            <a:spLocks noGrp="1"/>
          </p:cNvSpPr>
          <p:nvPr/>
        </p:nvSpPr>
        <p:spPr>
          <a:xfrm>
            <a:off x="876300" y="45339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9625983-3DF5-4DA7-8253-868C439DF103}"/>
              </a:ext>
            </a:extLst>
          </p:cNvPr>
          <p:cNvSpPr>
            <a:spLocks noGrp="1"/>
          </p:cNvSpPr>
          <p:nvPr/>
        </p:nvSpPr>
        <p:spPr>
          <a:xfrm>
            <a:off x="1562100" y="44767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Responsive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0AE0F3A-4A02-4D10-A11F-BC255E0D33CD}"/>
              </a:ext>
            </a:extLst>
          </p:cNvPr>
          <p:cNvSpPr>
            <a:spLocks noGrp="1"/>
          </p:cNvSpPr>
          <p:nvPr/>
        </p:nvSpPr>
        <p:spPr>
          <a:xfrm>
            <a:off x="1562100" y="47815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Desktop, Tablet und Smartphone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EC1490BC-DB40-4B27-81DA-846D5C7AF7BE}"/>
              </a:ext>
            </a:extLst>
          </p:cNvPr>
          <p:cNvSpPr>
            <a:spLocks noGrp="1"/>
          </p:cNvSpPr>
          <p:nvPr/>
        </p:nvSpPr>
        <p:spPr>
          <a:xfrm>
            <a:off x="6191250" y="4324350"/>
            <a:ext cx="5314950" cy="933450"/>
          </a:xfrm>
          <a:prstGeom prst="roundRect">
            <a:avLst>
              <a:gd name="adj" fmla="val 12245"/>
            </a:avLst>
          </a:prstGeom>
          <a:solidFill>
            <a:srgbClr val="FFFBF5"/>
          </a:solidFill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DE8208D9-5C70-4335-B916-AD681C1DFF8A}"/>
              </a:ext>
            </a:extLst>
          </p:cNvPr>
          <p:cNvSpPr>
            <a:spLocks noGrp="1"/>
          </p:cNvSpPr>
          <p:nvPr/>
        </p:nvSpPr>
        <p:spPr>
          <a:xfrm>
            <a:off x="6381750" y="45339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CEED6F8-6584-4EA1-9F3E-661F2F1BCCB1}"/>
              </a:ext>
            </a:extLst>
          </p:cNvPr>
          <p:cNvSpPr>
            <a:spLocks noGrp="1"/>
          </p:cNvSpPr>
          <p:nvPr/>
        </p:nvSpPr>
        <p:spPr>
          <a:xfrm>
            <a:off x="6381750" y="45339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56FFD8A-BABF-44A1-80AF-7CDD4BCF665A}"/>
              </a:ext>
            </a:extLst>
          </p:cNvPr>
          <p:cNvSpPr>
            <a:spLocks noGrp="1"/>
          </p:cNvSpPr>
          <p:nvPr/>
        </p:nvSpPr>
        <p:spPr>
          <a:xfrm>
            <a:off x="7067550" y="44767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JavaScript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519FA49-C5AE-4599-A81B-A60A99184C61}"/>
              </a:ext>
            </a:extLst>
          </p:cNvPr>
          <p:cNvSpPr>
            <a:spLocks noGrp="1"/>
          </p:cNvSpPr>
          <p:nvPr/>
        </p:nvSpPr>
        <p:spPr>
          <a:xfrm>
            <a:off x="7067550" y="47815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Quiz, Newsfeed, Menü und Medien</a:t>
            </a:r>
          </a:p>
        </p:txBody>
      </p:sp>
      <p:sp>
        <p:nvSpPr>
          <p:cNvPr id="33" name="Gerader Verbinder 32">
            <a:extLst>
              <a:ext uri="{FF2B5EF4-FFF2-40B4-BE49-F238E27FC236}">
                <a16:creationId xmlns:a16="http://schemas.microsoft.com/office/drawing/2014/main" id="{DE039965-DFF6-426F-912E-9729737B4A3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C400577-7B1C-4702-A9C5-A8936DB2A4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04076D6-E655-4BF7-815F-579B3D36C423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1852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2EDAED98-D69F-42A7-AF17-07517994353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11 - WAS WÜRDEN WIR NÄCHSTES MAL BESSER MACHEN?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A75FBCF-11AE-4313-B756-6FCCCDFB5535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Früher entscheiden, kleiner starten, systematischer testen</a:t>
            </a:r>
          </a:p>
        </p:txBody>
      </p:sp>
      <p:pic>
        <p:nvPicPr>
          <p:cNvPr id="24" name="Grafik 23"/>
          <p:cNvPicPr>
            <a:picLocks noChangeAspect="1"/>
          </p:cNvPicPr>
          <p:nvPr/>
        </p:nvPicPr>
        <p:blipFill>
          <a:blip r:embed="rId3"/>
          <a:srcRect l="13481" r="13481"/>
          <a:stretch>
            <a:fillRect/>
          </a:stretch>
        </p:blipFill>
        <p:spPr>
          <a:xfrm>
            <a:off x="7124700" y="1790700"/>
            <a:ext cx="4381500" cy="4000500"/>
          </a:xfrm>
          <a:prstGeom prst="roundRect">
            <a:avLst>
              <a:gd name="adj" fmla="val 3810"/>
            </a:avLst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9C09605-4AB5-47F7-A075-8B9DDA9A9D39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A66D7C2-46F4-42F0-84D4-281E23C6594F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02451A7-B452-4336-9504-5AB49F39B756}"/>
              </a:ext>
            </a:extLst>
          </p:cNvPr>
          <p:cNvSpPr>
            <a:spLocks noGrp="1"/>
          </p:cNvSpPr>
          <p:nvPr/>
        </p:nvSpPr>
        <p:spPr>
          <a:xfrm>
            <a:off x="1123950" y="2057400"/>
            <a:ext cx="537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Designsystem vor der ersten Unterseite festlegen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5471D43-2493-44DB-AB08-55AC462E75DF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C084BB5-B258-4882-B1C0-AA04F8F58A82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BEC73BA-0CAF-4A7A-9366-105DBBA01FD0}"/>
              </a:ext>
            </a:extLst>
          </p:cNvPr>
          <p:cNvSpPr>
            <a:spLocks noGrp="1"/>
          </p:cNvSpPr>
          <p:nvPr/>
        </p:nvSpPr>
        <p:spPr>
          <a:xfrm>
            <a:off x="1123950" y="2838450"/>
            <a:ext cx="537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zuerst einen vollständigen Prototypen bauen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DF08260-E470-4390-B6F2-395A08AD74C5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02E15D2-CD67-4340-9A0A-477F6B78A4EF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AAEE252-7B04-4C52-95DA-A87B5984AC6B}"/>
              </a:ext>
            </a:extLst>
          </p:cNvPr>
          <p:cNvSpPr>
            <a:spLocks noGrp="1"/>
          </p:cNvSpPr>
          <p:nvPr/>
        </p:nvSpPr>
        <p:spPr>
          <a:xfrm>
            <a:off x="1123950" y="3619500"/>
            <a:ext cx="537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Inhalte und Quellen früher begrenzen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8E3D27C7-8FA5-4F6C-9255-B627ADCB709F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8085428-437E-4094-A91A-783FA5F0A0BB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0B7D8E8-A6BB-464F-9F73-73215F099A29}"/>
              </a:ext>
            </a:extLst>
          </p:cNvPr>
          <p:cNvSpPr>
            <a:spLocks noGrp="1"/>
          </p:cNvSpPr>
          <p:nvPr/>
        </p:nvSpPr>
        <p:spPr>
          <a:xfrm>
            <a:off x="1123950" y="4400550"/>
            <a:ext cx="537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Tests und Aufgaben im Team dokumentieren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CC3E0021-1358-43C2-AC13-7BD89D926786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5810250" cy="495300"/>
          </a:xfrm>
          <a:prstGeom prst="roundRect">
            <a:avLst>
              <a:gd name="adj" fmla="val 50000"/>
            </a:avLst>
          </a:prstGeom>
          <a:solidFill>
            <a:srgbClr val="E4D2BD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1DD4D4F-8CEC-42C5-8F94-CF03A6F90BD5}"/>
              </a:ext>
            </a:extLst>
          </p:cNvPr>
          <p:cNvSpPr>
            <a:spLocks noGrp="1"/>
          </p:cNvSpPr>
          <p:nvPr/>
        </p:nvSpPr>
        <p:spPr>
          <a:xfrm>
            <a:off x="895350" y="5514975"/>
            <a:ext cx="539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Qualität entsteht schneller, wenn Entscheidungen früh verbindlich sind.</a:t>
            </a:r>
          </a:p>
        </p:txBody>
      </p:sp>
      <p:sp>
        <p:nvSpPr>
          <p:cNvPr id="18" name="Gerader Verbinder 17">
            <a:extLst>
              <a:ext uri="{FF2B5EF4-FFF2-40B4-BE49-F238E27FC236}">
                <a16:creationId xmlns:a16="http://schemas.microsoft.com/office/drawing/2014/main" id="{BBA3662A-39BD-41DB-8C5A-D3BDD4B0C11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4FE50E4-1AFE-458D-81E8-91ED5526BF26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CC3C960-2300-4E52-AC36-576F86EC8AFE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95905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2C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rcRect l="23603" r="23603"/>
          <a:stretch>
            <a:fillRect/>
          </a:stretch>
        </p:blipFill>
        <p:spPr>
          <a:xfrm>
            <a:off x="6762750" y="0"/>
            <a:ext cx="5429250" cy="6858000"/>
          </a:xfrm>
          <a:prstGeom prst="rect">
            <a:avLst/>
          </a:prstGeom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CD63A13A-27BF-4F26-B57A-35A87BA59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810500" cy="6858000"/>
          </a:xfrm>
          <a:prstGeom prst="roundRect">
            <a:avLst>
              <a:gd name="adj" fmla="val 0"/>
            </a:avLst>
          </a:prstGeom>
          <a:solidFill>
            <a:srgbClr val="3A2C25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C7D4E6CE-91D3-4EE3-B6BD-DB1D1C79A536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1524000" cy="6858000"/>
          </a:xfrm>
          <a:prstGeom prst="roundRect">
            <a:avLst>
              <a:gd name="adj" fmla="val 0"/>
            </a:avLst>
          </a:prstGeom>
          <a:solidFill>
            <a:srgbClr val="3A2C25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55269C9-2063-4765-A4A1-9DB62EFCF169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C9953D"/>
                </a:solidFill>
              </a:defRPr>
            </a:pPr>
            <a:r>
              <a:rPr sz="1125" b="1">
                <a:solidFill>
                  <a:srgbClr val="C9953D"/>
                </a:solidFill>
              </a:rPr>
              <a:t>FAZIT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B05B182-0312-400B-BFA0-0875211B13D5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5524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KI ist im Alltag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angekommen.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EF14157-CC09-4744-A030-D3895B83C7C5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334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EBDDD0"/>
                </a:solidFill>
              </a:defRPr>
            </a:pPr>
            <a:r>
              <a:rPr sz="1875" b="0">
                <a:solidFill>
                  <a:srgbClr val="EBDDD0"/>
                </a:solidFill>
              </a:rPr>
              <a:t>Die entscheidende Frage ist nicht nur, was KI kann - sondern wie verantwortungsvoll wir sie einsetzen.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B335F5E-08BD-45CA-A39F-217B8970DAA2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4743450" cy="704850"/>
          </a:xfrm>
          <a:prstGeom prst="roundRect">
            <a:avLst>
              <a:gd name="adj" fmla="val 21622"/>
            </a:avLst>
          </a:prstGeom>
          <a:solidFill>
            <a:srgbClr val="A84C2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C65C0E1-7AB9-4373-9E30-3D86BBB0E57C}"/>
              </a:ext>
            </a:extLst>
          </p:cNvPr>
          <p:cNvSpPr>
            <a:spLocks noGrp="1"/>
          </p:cNvSpPr>
          <p:nvPr/>
        </p:nvSpPr>
        <p:spPr>
          <a:xfrm>
            <a:off x="876300" y="4886325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Live-Demo: Startseite, Detailseite und Quiz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8F0404B-7C29-4FC1-A7E3-B20EF4321D34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C9953D"/>
                </a:solidFill>
              </a:defRPr>
            </a:pPr>
            <a:r>
              <a:rPr sz="1350" b="1">
                <a:solidFill>
                  <a:srgbClr val="C9953D"/>
                </a:solidFill>
              </a:rPr>
              <a:t>Fragen?</a:t>
            </a:r>
          </a:p>
        </p:txBody>
      </p:sp>
    </p:spTree>
    <p:extLst>
      <p:ext uri="{BB962C8B-B14F-4D97-AF65-F5344CB8AC3E}">
        <p14:creationId xmlns:p14="http://schemas.microsoft.com/office/powerpoint/2010/main" val="20262160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Office PowerPoint</Application>
  <DocSecurity>0</DocSecurity>
  <PresentationFormat>Breitbild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Wiedemann Leon</cp:lastModifiedBy>
  <cp:revision>2</cp:revision>
  <dcterms:created xsi:type="dcterms:W3CDTF">2026-07-16T07:00:10Z</dcterms:created>
  <dcterms:modified xsi:type="dcterms:W3CDTF">2026-07-16T07:40:18Z</dcterms:modified>
</cp:coreProperties>
</file>