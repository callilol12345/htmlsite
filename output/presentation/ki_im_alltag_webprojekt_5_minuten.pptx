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78702fc2d4adc" /><Relationship Type="http://schemas.openxmlformats.org/officeDocument/2006/relationships/extended-properties" Target="/docProps/app.xml" Id="Rd69129beec1543bb" /><Relationship Type="http://schemas.openxmlformats.org/officeDocument/2006/relationships/officeDocument" Target="/ppt/presentation.xml" Id="Raf8a874580b4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6f9165d3b4d9d"/>
  </p:sldMasterIdLst>
  <p:notesMasterIdLst>
    <p:notesMasterId xmlns:r="http://schemas.openxmlformats.org/officeDocument/2006/relationships" r:id="R9a31a51df7ac44d6"/>
  </p:notesMasterIdLst>
  <p:sldIdLst>
    <p:sldId xmlns:r="http://schemas.openxmlformats.org/officeDocument/2006/relationships" id="256" r:id="R9105fac889024dd7"/>
    <p:sldId xmlns:r="http://schemas.openxmlformats.org/officeDocument/2006/relationships" id="257" r:id="R30a07505322243be"/>
    <p:sldId xmlns:r="http://schemas.openxmlformats.org/officeDocument/2006/relationships" id="258" r:id="R69b9ab70fa704489"/>
    <p:sldId xmlns:r="http://schemas.openxmlformats.org/officeDocument/2006/relationships" id="259" r:id="Rfc281e06a3dd4705"/>
    <p:sldId xmlns:r="http://schemas.openxmlformats.org/officeDocument/2006/relationships" id="260" r:id="Rf613a30c9d2e4959"/>
    <p:sldId xmlns:r="http://schemas.openxmlformats.org/officeDocument/2006/relationships" id="261" r:id="Rd3d0c3ec112f4815"/>
    <p:sldId xmlns:r="http://schemas.openxmlformats.org/officeDocument/2006/relationships" id="262" r:id="Rab76280a5eae4cf9"/>
    <p:sldId xmlns:r="http://schemas.openxmlformats.org/officeDocument/2006/relationships" id="263" r:id="R43118fe54b274953"/>
    <p:sldId xmlns:r="http://schemas.openxmlformats.org/officeDocument/2006/relationships" id="264" r:id="R41790b27e82c43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f1bd9ee0b4b04" /><Relationship Type="http://schemas.openxmlformats.org/officeDocument/2006/relationships/slideMaster" Target="/ppt/slideMasters/slideMaster1.xml" Id="R82a6f9165d3b4d9d" /><Relationship Type="http://schemas.openxmlformats.org/officeDocument/2006/relationships/notesMaster" Target="/ppt/notesMasters/notesMaster1.xml" Id="R9a31a51df7ac44d6" /><Relationship Type="http://schemas.openxmlformats.org/officeDocument/2006/relationships/presProps" Target="/ppt/presProps.xml" Id="R2a04f4f2bcb24dda" /><Relationship Type="http://schemas.openxmlformats.org/officeDocument/2006/relationships/tableStyles" Target="/ppt/tableStyles.xml" Id="Rbaf2ef1131194131" /><Relationship Type="http://schemas.openxmlformats.org/officeDocument/2006/relationships/slide" Target="/ppt/slides/slide1.xml" Id="R9105fac889024dd7" /><Relationship Type="http://schemas.openxmlformats.org/officeDocument/2006/relationships/slide" Target="/ppt/slides/slide2.xml" Id="R30a07505322243be" /><Relationship Type="http://schemas.openxmlformats.org/officeDocument/2006/relationships/slide" Target="/ppt/slides/slide3.xml" Id="R69b9ab70fa704489" /><Relationship Type="http://schemas.openxmlformats.org/officeDocument/2006/relationships/slide" Target="/ppt/slides/slide4.xml" Id="Rfc281e06a3dd4705" /><Relationship Type="http://schemas.openxmlformats.org/officeDocument/2006/relationships/slide" Target="/ppt/slides/slide5.xml" Id="Rf613a30c9d2e4959" /><Relationship Type="http://schemas.openxmlformats.org/officeDocument/2006/relationships/slide" Target="/ppt/slides/slide6.xml" Id="Rd3d0c3ec112f4815" /><Relationship Type="http://schemas.openxmlformats.org/officeDocument/2006/relationships/slide" Target="/ppt/slides/slide7.xml" Id="Rab76280a5eae4cf9" /><Relationship Type="http://schemas.openxmlformats.org/officeDocument/2006/relationships/slide" Target="/ppt/slides/slide8.xml" Id="R43118fe54b274953" /><Relationship Type="http://schemas.openxmlformats.org/officeDocument/2006/relationships/slide" Target="/ppt/slides/slide9.xml" Id="R41790b27e82c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df7378b9e04b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8faef032ad42e4" /><Relationship Type="http://schemas.openxmlformats.org/officeDocument/2006/relationships/notesMaster" Target="/ppt/notesMasters/notesMaster1.xml" Id="R80c63ab27e584d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c94ca78cb4eaf" /><Relationship Type="http://schemas.openxmlformats.org/officeDocument/2006/relationships/notesMaster" Target="/ppt/notesMasters/notesMaster1.xml" Id="R94157c12fee541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b389ec970c4736" /><Relationship Type="http://schemas.openxmlformats.org/officeDocument/2006/relationships/notesMaster" Target="/ppt/notesMasters/notesMaster1.xml" Id="R0cee79af2f5a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1dfb089144f9c" /><Relationship Type="http://schemas.openxmlformats.org/officeDocument/2006/relationships/notesMaster" Target="/ppt/notesMasters/notesMaster1.xml" Id="Re8342fa980ca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a4fe79d4348e2" /><Relationship Type="http://schemas.openxmlformats.org/officeDocument/2006/relationships/notesMaster" Target="/ppt/notesMasters/notesMaster1.xml" Id="R6c0f94e63c954d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78187b0aae4af8" /><Relationship Type="http://schemas.openxmlformats.org/officeDocument/2006/relationships/notesMaster" Target="/ppt/notesMasters/notesMaster1.xml" Id="Re7a8b0d1b09341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48cd44b34e49ce" /><Relationship Type="http://schemas.openxmlformats.org/officeDocument/2006/relationships/notesMaster" Target="/ppt/notesMasters/notesMaster1.xml" Id="R489a75eeb6ab45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3e43b1b87a4f25" /><Relationship Type="http://schemas.openxmlformats.org/officeDocument/2006/relationships/notesMaster" Target="/ppt/notesMasters/notesMaster1.xml" Id="Rdbb114c05ff341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0fdc4f944f4456" /><Relationship Type="http://schemas.openxmlformats.org/officeDocument/2006/relationships/notesMaster" Target="/ppt/notesMasters/notesMaster1.xml" Id="Rfb1a95578f01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81336508a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0e7bafea646cc" /><Relationship Type="http://schemas.openxmlformats.org/officeDocument/2006/relationships/slideLayout" Target="/ppt/slideLayouts/slideLayout1.xml" Id="R0d6a4a31fd49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a4a31fd49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9678bbbba4da4" /><Relationship Type="http://schemas.openxmlformats.org/officeDocument/2006/relationships/image" Target="/ppt/media/image.jpeg" Id="R7dd1beca86d540d5" /><Relationship Type="http://schemas.openxmlformats.org/officeDocument/2006/relationships/notesSlide" Target="/ppt/notesSlides/notesSlide1.xml" Id="R3799ae860903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625a8005d4ec3" /><Relationship Type="http://schemas.openxmlformats.org/officeDocument/2006/relationships/image" Target="/ppt/media/image2.jpeg" Id="Rb9bcc89f31304efa" /><Relationship Type="http://schemas.openxmlformats.org/officeDocument/2006/relationships/notesSlide" Target="/ppt/notesSlides/notesSlide2.xml" Id="R3121d3a4a942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8f6e98c6a4cb4" /><Relationship Type="http://schemas.openxmlformats.org/officeDocument/2006/relationships/image" Target="/ppt/media/image3.jpeg" Id="Rb6746966a10e4118" /><Relationship Type="http://schemas.openxmlformats.org/officeDocument/2006/relationships/image" Target="/ppt/media/image4.jpeg" Id="Rb7466acc82ff4e20" /><Relationship Type="http://schemas.openxmlformats.org/officeDocument/2006/relationships/image" Target="/ppt/media/image5.jpeg" Id="Rabf54f67b6bf4ea3" /><Relationship Type="http://schemas.openxmlformats.org/officeDocument/2006/relationships/image" Target="/ppt/media/image6.jpeg" Id="R4efcb73e9bfe4dab" /><Relationship Type="http://schemas.openxmlformats.org/officeDocument/2006/relationships/image" Target="/ppt/media/image7.jpeg" Id="R9337c94b3bf54497" /><Relationship Type="http://schemas.openxmlformats.org/officeDocument/2006/relationships/image" Target="/ppt/media/image8.jpeg" Id="R9dc99f1c5271412d" /><Relationship Type="http://schemas.openxmlformats.org/officeDocument/2006/relationships/notesSlide" Target="/ppt/notesSlides/notesSlide3.xml" Id="R6f49f4bf0f75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befaca5a40e7" /><Relationship Type="http://schemas.openxmlformats.org/officeDocument/2006/relationships/notesSlide" Target="/ppt/notesSlides/notesSlide4.xml" Id="Rc63be74507404e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eb1636bf64171" /><Relationship Type="http://schemas.openxmlformats.org/officeDocument/2006/relationships/notesSlide" Target="/ppt/notesSlides/notesSlide5.xml" Id="R7c26a34390c748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5c4794dd14e92" /><Relationship Type="http://schemas.openxmlformats.org/officeDocument/2006/relationships/image" Target="/ppt/media/image9.jpeg" Id="R8b3949851bb74ac6" /><Relationship Type="http://schemas.openxmlformats.org/officeDocument/2006/relationships/image" Target="/ppt/media/image10.jpeg" Id="R593a15aa4349409d" /><Relationship Type="http://schemas.openxmlformats.org/officeDocument/2006/relationships/image" Target="/ppt/media/image11.jpeg" Id="R9ce9d56054914438" /><Relationship Type="http://schemas.openxmlformats.org/officeDocument/2006/relationships/image" Target="/ppt/media/image12.jpeg" Id="R7bf8356a0fec40a2" /><Relationship Type="http://schemas.openxmlformats.org/officeDocument/2006/relationships/notesSlide" Target="/ppt/notesSlides/notesSlide6.xml" Id="R393d21595cc14e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fd39cb1ad43a2" /><Relationship Type="http://schemas.openxmlformats.org/officeDocument/2006/relationships/notesSlide" Target="/ppt/notesSlides/notesSlide7.xml" Id="Rfee54779dccd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0ec4e333b4c68" /><Relationship Type="http://schemas.openxmlformats.org/officeDocument/2006/relationships/notesSlide" Target="/ppt/notesSlides/notesSlide8.xml" Id="R15a825e38990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2aa70a6f4284" /><Relationship Type="http://schemas.openxmlformats.org/officeDocument/2006/relationships/image" Target="/ppt/media/image13.jpeg" Id="R2ed72dec6d5c44ee" /><Relationship Type="http://schemas.openxmlformats.org/officeDocument/2006/relationships/notesSlide" Target="/ppt/notesSlides/notesSlide9.xml" Id="R94358de43579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1beca86d540d5"/>
          <a:srcRect xmlns:a="http://schemas.openxmlformats.org/drawingml/2006/main" l="20824" t="0" r="208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5991D-4E6A-4B7B-A023-FD6ADCA1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A2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DC26E-4B8B-4E24-AB0E-D1D9AEA6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17145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A2C2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9CF9E-CE97-40AE-BDA7-C3516A0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53D"/>
                </a:solidFill>
              </a:defRPr>
            </a:pPr>
            <a:r>
              <a:rPr sz="1125" b="1">
                <a:solidFill>
                  <a:srgbClr val="C9953D"/>
                </a:solidFill>
              </a:rPr>
              <a:t>WEBPROJEKT - POLITIK UND GESELLSCHAFT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68D23-9C0D-4E21-8B5D-BF4A2B33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Künstliche Intelligenz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im Alltag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2F2F8-3838-429F-8DE7-BDDF5503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CC"/>
                </a:solidFill>
              </a:defRPr>
            </a:pPr>
            <a:r>
              <a:rPr sz="1800" b="0">
                <a:solidFill>
                  <a:srgbClr val="E8D9CC"/>
                </a:solidFill>
              </a:rPr>
              <a:t>Konkrete Nutzung, Chancen und Grenzen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6EF53-576C-49E5-B083-2B4C330C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53D"/>
                </a:solidFill>
              </a:defRPr>
            </a:pPr>
            <a:r>
              <a:rPr sz="1350" b="1">
                <a:solidFill>
                  <a:srgbClr val="C9953D"/>
                </a:solidFill>
              </a:rPr>
              <a:t>HTML5  •  CSS Grid  • 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4DACE-D461-4DB3-BBC2-8D885386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C7B7"/>
                </a:solidFill>
              </a:defRPr>
            </a:pPr>
            <a:r>
              <a:rPr sz="1200" b="0">
                <a:solidFill>
                  <a:srgbClr val="D8C7B7"/>
                </a:solidFill>
              </a:rPr>
              <a:t>Präsentation in etwa 5 Minuten</a:t>
            </a:r>
          </a:p>
        </p:txBody>
      </p:sp>
    </p:spTree>
    <p:extLst>
      <p:ext uri="{BB962C8B-B14F-4D97-AF65-F5344CB8AC3E}">
        <p14:creationId xmlns:p14="http://schemas.microsoft.com/office/powerpoint/2010/main" val="773892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10991-560D-4280-A3C9-0D87C0C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01 - IDEE DER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C934A-AF9C-471A-A337-2BE23B2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KI erklären, indem wir ihren Alltagseinsatz zeigen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c89f31304efa"/>
          <a:srcRect xmlns:a="http://schemas.openxmlformats.org/drawingml/2006/main" l="9658" t="0" r="96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9300"/>
            <a:ext cx="4667250" cy="3857625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1F134-5D22-4CCE-862F-14BFF606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4C2F"/>
                </a:solidFill>
              </a:defRPr>
            </a:pPr>
            <a:r>
              <a:rPr sz="1350" b="1">
                <a:solidFill>
                  <a:srgbClr val="A84C2F"/>
                </a:solidFill>
              </a:rPr>
              <a:t>Die Leitfrage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FBA7F-68E7-4C74-8014-437124D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2A24"/>
                </a:solidFill>
              </a:defRPr>
            </a:pPr>
            <a:r>
              <a:rPr sz="2325" b="1">
                <a:solidFill>
                  <a:srgbClr val="342A24"/>
                </a:solidFill>
              </a:rPr>
              <a:t>Wo begegnet uns KI heute - und was bedeutet das für uns?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139F9-78D4-41B4-8E5B-92DA3A7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7A494-F8DD-4FAB-AAAF-4D83130B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51781-7F37-4387-A499-1E891B4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Lernen und Kommunikation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AB3D1-16CD-4585-9379-7A3F3F3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73C10-03A1-4E85-BF7B-FE9E5057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3D4DC-6164-41F4-90AD-AF0D99E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Mobilität und Kreativität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08CE5-70B6-4038-9B30-C211B3F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E061C-8A75-404B-B852-9963653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3BE35-8EF9-48A0-BC66-4A7C706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72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2A24"/>
                </a:solidFill>
              </a:defRPr>
            </a:pPr>
            <a:r>
              <a:rPr sz="1500" b="0">
                <a:solidFill>
                  <a:srgbClr val="342A24"/>
                </a:solidFill>
              </a:rPr>
              <a:t>Gesundheit und Verantwortung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432E5-78DD-4068-ABCF-AC4C223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38800"/>
            <a:ext cx="514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063CD-2A03-4842-B619-7AC1BC1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Nicht Zukunftsvisionen, sondern überprüfbare Beispiele.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47FCA-EA7B-4295-BAA0-88DA3BB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C61BE-56E9-4C19-B86B-065A8B4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FD1A8-E18C-49A8-BFF5-93C9812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1326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00890-A178-4E86-9EEA-8F0D4BC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02 - AUFBAU UND INHALT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F8424-CF20-4D05-91EA-0C8D7C6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Eine Startseite verbindet sechs vertiefende Anwendungen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46966a10e4118"/>
          <a:srcRect xmlns:a="http://schemas.openxmlformats.org/drawingml/2006/main" l="23960" t="0" r="239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2DBC7-A6B8-432C-BB84-D334B11E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Chatbots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66acc82ff4e20"/>
          <a:srcRect xmlns:a="http://schemas.openxmlformats.org/drawingml/2006/main" l="10952" t="0" r="10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890F-5E18-4008-9BAD-68FBEBD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Sprache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54f67b6bf4ea3"/>
          <a:srcRect xmlns:a="http://schemas.openxmlformats.org/drawingml/2006/main" l="23960" t="0" r="239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06D9A-1AC3-44E2-B250-B27099C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Navigation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cb73e9bfe4dab"/>
          <a:srcRect xmlns:a="http://schemas.openxmlformats.org/drawingml/2006/main" l="23960" t="0" r="239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1E5DD-CD52-4A90-BA34-57C7233B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Bilder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7c94b3bf54497"/>
          <a:srcRect xmlns:a="http://schemas.openxmlformats.org/drawingml/2006/main" l="23960" t="0" r="239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C2A6F-2433-4C96-8FA1-307D81D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Medizin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99f1c5271412d"/>
          <a:srcRect xmlns:a="http://schemas.openxmlformats.org/drawingml/2006/main" l="23960" t="0" r="239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9300" y="209550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50EB9-DD0D-475C-9A45-8EF9345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71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Fahren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574D6-1673-433E-99F4-53F69708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95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55AC3-57A8-488B-958B-96BB9BB0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F9EEA-EE5B-4EA7-ADCF-87201B87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3BD2B-E15F-42D1-97B6-7DAFC85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Newsfeed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32DFF-51CA-47AB-BA15-6BD30A7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768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C511C-A8E4-464A-87A7-E94488C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76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122BD-3690-4212-BD18-B2B44D5C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0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Überblick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77D32-EDAD-40D1-9301-B1918CF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4A8C6-F9BE-4771-A365-CA816941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810E1-F9FA-4E39-9983-C01357C3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Detailseiten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13271-049F-49C6-AE20-D8F48BE0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768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311CB-6B87-4FBE-AEE0-406ABB2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76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13C86-C9FD-4048-9B09-4F833D5A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0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Quellen &amp; Quiz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E26A4-981A-4ADC-87A8-B815D427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B583D-6967-4484-B44D-A67F6F74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C0E99-ECC3-4B46-B815-70F30F47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412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7589E4-430F-4845-AB09-7D2B4C2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03 - TECHNISCHE UMSETZUNG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0D930-2F37-4662-AAAF-043957B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Neun HTML-Seiten, drei CSS-Dateien und vier JavaScript-Module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C1ADA-4148-4775-B40A-1B990BC6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7D5F4-3FAA-4582-ADFC-3C4F53FA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85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2F09-9F43-4693-B69D-481D58F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AD480-EBA6-41B9-B86D-667DC25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2A24"/>
                </a:solidFill>
              </a:defRPr>
            </a:pPr>
            <a:r>
              <a:rPr sz="1950" b="1">
                <a:solidFill>
                  <a:srgbClr val="342A24"/>
                </a:solidFill>
              </a:rPr>
              <a:t>HTML5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A293B-71BB-4E0A-A34D-D61477C3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index.html + 6 Detailseiten</a:t>
            </a:r>
          </a:p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quiz.html + projektinfo.html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94361-3B01-4288-83D1-7C3F70A0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header, nav, main, section, footer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9A818-FF09-42DE-BF68-40114D99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7D4AA-A376-48DB-AF86-0AE03BF3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685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3C1CB-49FE-491F-A3C5-409DEA7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7F86-8146-411B-99F2-3540B86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2A24"/>
                </a:solidFill>
              </a:defRPr>
            </a:pPr>
            <a:r>
              <a:rPr sz="1950" b="1">
                <a:solidFill>
                  <a:srgbClr val="342A24"/>
                </a:solidFill>
              </a:rPr>
              <a:t>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76305-F48F-4038-B3DD-7FA469D3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modern-ui.css</a:t>
            </a:r>
          </a:p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style.css</a:t>
            </a:r>
          </a:p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detail.css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2FD6D-4A89-44F8-8A27-D1A3507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Designsystem, Startseite, Detailseiten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00004-9ABD-44B4-92F4-9ED7DD04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E89BA-A904-4678-957A-9FA9C55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685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C39B4-726E-437F-9E31-83B17175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81BBC-2008-41AB-8C59-8F18C1B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2A24"/>
                </a:solidFill>
              </a:defRPr>
            </a:pPr>
            <a:r>
              <a:rPr sz="1950" b="1">
                <a:solidFill>
                  <a:srgbClr val="342A24"/>
                </a:solidFill>
              </a:rPr>
              <a:t>JavaScript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A146B-BBF3-48E4-BB31-56C525EC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script.js + newsfeed.js</a:t>
            </a:r>
          </a:p>
          <a:p xmlns:a="http://schemas.openxmlformats.org/drawingml/2006/main">
            <a:pPr algn="l">
              <a:defRPr sz="1350" b="1">
                <a:solidFill>
                  <a:srgbClr val="6E5D52"/>
                </a:solidFill>
              </a:defRPr>
            </a:pPr>
            <a:r>
              <a:rPr sz="1350" b="1">
                <a:solidFill>
                  <a:srgbClr val="6E5D52"/>
                </a:solidFill>
              </a:rPr>
              <a:t>quiz.js + embed.js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90C60-D8E7-403A-AD10-E3A5DCA9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Menü, Feed, Fragen und Medien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E1642-A36C-43F8-806C-BE10DDDC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B07D0-465C-4E37-844F-E111102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Alles läuft lokal im Browser: kein Backend, keine Datenbank und keine KI-API.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8AED0-D8DE-4BF4-B231-C47FAD1F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947AC-61ED-46FF-A0D8-EB974A12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2F9DA-0C3B-4AA4-97B2-0D6ED72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3771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D29DF-0DBF-4B15-8D67-7A0392A8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04 - INTERAKTION KONKRET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BF0E-82EA-4CA1-BE64-86BA480C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Ein Klick löst sichtbare, nachvollziehbare Schritte aus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5A4A8-976C-4BBB-99A1-E04F8823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C2F"/>
                </a:solidFill>
              </a:defRPr>
            </a:pPr>
            <a:r>
              <a:rPr sz="1500" b="1">
                <a:solidFill>
                  <a:srgbClr val="A84C2F"/>
                </a:solidFill>
              </a:rPr>
              <a:t>Beispiel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93640-BA3F-43A1-935E-4D8FB10D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95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DDBC-457E-421B-9631-64A9DA8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05DE1-2F75-45C4-A097-CF75641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629C3-920D-4080-BDE3-FEC49FD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Antwort anklicken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BD631-3A06-4781-B7E1-152E741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quiz.js vergleicht die Auswahl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E5202-8C90-4853-9453-2703843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66EF1-D1ED-4F51-B079-FB06C094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EDA38-F270-47FF-90E5-C8C9B6F8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57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Ergebnis anzeigen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76181-EBCC-48F7-BFB0-471D4656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richtig oder falsch wird markiert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2AA7D-EED0-432A-A103-5FF11DAC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F7150-A61C-4269-83C0-161D706E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A42BD-D771-43A2-83B9-871EA98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Verstehen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975FD-CE5A-4404-9F0F-17409F2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Maskottchen erklärt warum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954C1-A6B0-42C7-A420-AE94E04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7A08A-4C60-45A4-BFEE-D8575455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ABDA5-E1D3-42D0-9DFE-5EE7FAD4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Weiter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F7AEA-3CA9-4D73-950C-CF5DCF8C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nächste Frage aus dem 100er-Pool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26A1F-9C0B-4CE1-A540-148993C8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40BB0-6E7B-4046-930A-DFE8B0CB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4C2F"/>
                </a:solidFill>
              </a:defRPr>
            </a:pPr>
            <a:r>
              <a:rPr sz="1350" b="1">
                <a:solidFill>
                  <a:srgbClr val="A84C2F"/>
                </a:solidFill>
              </a:rPr>
              <a:t>Datenschutzbeispiel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8DB8B-280C-4C06-9A7B-3C3085E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embed.js lädt YouTube oder externe Beiträge erst nach dem Klick auf „Inhalt laden“.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BB14F-155D-4854-B5BA-E1A2322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C22D9-E511-4542-A3C0-8F09BBD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D28AF-6882-47C9-9714-15942D16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1491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1BF63-AFDA-4992-A474-B00E262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05 - UMSETZUNG EINER UNTERSEITE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D853A-D09F-4FED-A093-C7FC28E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Aus einem Thema wird Schritt für Schritt eine vollständige Detailseite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949851bb74ac6"/>
          <a:srcRect xmlns:a="http://schemas.openxmlformats.org/drawingml/2006/main" l="5768" t="0" r="5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57400"/>
            <a:ext cx="2476500" cy="1866900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24FFF-FBE8-49FF-A43E-C6A1C99C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2F"/>
                </a:solidFill>
              </a:defRPr>
            </a:pPr>
            <a:r>
              <a:rPr sz="1575" b="1">
                <a:solidFill>
                  <a:srgbClr val="A84C2F"/>
                </a:solidFill>
              </a:rPr>
              <a:t>1. Inhalt planen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B5F6A-04D0-430D-A21F-59FB3F1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Alltagssituation, Chance und Grenze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E83A3-E1FF-4E9A-97BF-9155B3F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5D52"/>
                </a:solidFill>
              </a:defRPr>
            </a:pPr>
            <a:r>
              <a:rPr sz="1125" b="0">
                <a:solidFill>
                  <a:srgbClr val="6E5D52"/>
                </a:solidFill>
              </a:rPr>
              <a:t>Text in wiederkehrende Sections gliedern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a15aa4349409d"/>
          <a:srcRect xmlns:a="http://schemas.openxmlformats.org/drawingml/2006/main" l="0" t="12308" r="0" b="12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2057400"/>
            <a:ext cx="2476500" cy="1866900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96AF5-269D-41D6-BFA1-AAEE82BD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48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2F"/>
                </a:solidFill>
              </a:defRPr>
            </a:pPr>
            <a:r>
              <a:rPr sz="1575" b="1">
                <a:solidFill>
                  <a:srgbClr val="A84C2F"/>
                </a:solidFill>
              </a:rPr>
              <a:t>2. Foto einbauen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8B2D1-83F4-479B-8ADD-E97D490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Bild lokal unter assets/photos speichern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89A7-2FA1-427B-AF39-B459CD14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0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5D52"/>
                </a:solidFill>
              </a:defRPr>
            </a:pPr>
            <a:r>
              <a:rPr sz="1125" b="0">
                <a:solidFill>
                  <a:srgbClr val="6E5D52"/>
                </a:solidFill>
              </a:rPr>
              <a:t>Alt-Text und passenden Zuschnitt ergänzen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9d56054914438"/>
          <a:srcRect xmlns:a="http://schemas.openxmlformats.org/drawingml/2006/main" l="5768" t="0" r="5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057400"/>
            <a:ext cx="2476500" cy="1866900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A5FA1-073E-4152-87CE-D710EFB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2F"/>
                </a:solidFill>
              </a:defRPr>
            </a:pPr>
            <a:r>
              <a:rPr sz="1575" b="1">
                <a:solidFill>
                  <a:srgbClr val="A84C2F"/>
                </a:solidFill>
              </a:rPr>
              <a:t>3. Quellen zuordnen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06780-C980-4BE5-ABF5-F6F10361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offizielle Organisationen direkt verlinken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87255-71AD-460E-BC08-CCCEFEC6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5D52"/>
                </a:solidFill>
              </a:defRPr>
            </a:pPr>
            <a:r>
              <a:rPr sz="1125" b="0">
                <a:solidFill>
                  <a:srgbClr val="6E5D52"/>
                </a:solidFill>
              </a:rPr>
              <a:t>Quellen nicht nur gesammelt, sondern passend am Abschnitt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8356a0fec40a2"/>
          <a:srcRect xmlns:a="http://schemas.openxmlformats.org/drawingml/2006/main" l="5768" t="0" r="5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2057400"/>
            <a:ext cx="2476500" cy="1866900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EA2DB-6A55-4FDF-BE1F-9DA1EB4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48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2F"/>
                </a:solidFill>
              </a:defRPr>
            </a:pPr>
            <a:r>
              <a:rPr sz="1575" b="1">
                <a:solidFill>
                  <a:srgbClr val="A84C2F"/>
                </a:solidFill>
              </a:rPr>
              <a:t>4. Medien schützen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B7C58-6D72-42E4-A2D5-941FE470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2A24"/>
                </a:solidFill>
              </a:defRPr>
            </a:pPr>
            <a:r>
              <a:rPr sz="1275" b="1">
                <a:solidFill>
                  <a:srgbClr val="342A24"/>
                </a:solidFill>
              </a:rPr>
              <a:t>zuerst nur lokale Vorschau anzeigen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BA7F4-0AF0-4301-BA66-24AF696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10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5D52"/>
                </a:solidFill>
              </a:defRPr>
            </a:pPr>
            <a:r>
              <a:rPr sz="1125" b="0">
                <a:solidFill>
                  <a:srgbClr val="6E5D52"/>
                </a:solidFill>
              </a:rPr>
              <a:t>iframe erst nach „Inhalt laden“ erzeugen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C472C-8EC0-4742-A312-D2E8EE1C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5D52"/>
                </a:solidFill>
              </a:defRPr>
            </a:pPr>
            <a:r>
              <a:rPr sz="1275" b="1">
                <a:solidFill>
                  <a:srgbClr val="6E5D52"/>
                </a:solidFill>
              </a:rPr>
              <a:t>Dasselbe Grundmuster wurde anschließend auf alle sechs Anwendungsseiten übertragen.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51842-B11F-40FC-8E6A-EED5BE1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96EC7-F2C4-4B2D-9B52-006BD44D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BEA94-EC7B-4667-90FB-378F1F5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7095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D9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88005-829E-48CC-BB65-813818A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06 - PROBLEME UND PROBLEMBEHEBUNG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8C3AA-211D-4FF4-BEC3-DAAA7A97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Jeder sichtbare Fehler führte zu einer konkreten Änderung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00CCD-70B8-4A1B-B090-292A18DB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34236"/>
                </a:solidFill>
              </a:defRPr>
            </a:pPr>
            <a:r>
              <a:rPr sz="1425" b="1">
                <a:solidFill>
                  <a:srgbClr val="934236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76545-A3CB-4519-90C2-616EA8FC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B775A"/>
                </a:solidFill>
              </a:defRPr>
            </a:pPr>
            <a:r>
              <a:rPr sz="1425" b="1">
                <a:solidFill>
                  <a:srgbClr val="6B775A"/>
                </a:solidFill>
              </a:rPr>
              <a:t>Behobene Ursache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F801D-CD38-4557-99E7-83DF0C45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406C2-4DB6-45E8-8D1E-8CF0BD31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Design wirkte uneinheitlich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25A2B-07AC-49A6-B354-6457DE0B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5270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4C2F"/>
                </a:solidFill>
              </a:defRPr>
            </a:pPr>
            <a:r>
              <a:rPr sz="1950" b="1">
                <a:solidFill>
                  <a:srgbClr val="A84C2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9333F-639B-4B05-872A-D20620A5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314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903A8-7F65-4B6D-AE28-38F5A1AD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zentrale CSS-Variablen und eine gemeinsame Farbpalette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BFA93-DCAF-4038-B8BF-9BD7265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9273B-9755-45A7-8781-C527E155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Kartenrückseiten waren unscharf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993BD-A987-4E91-A3B8-56A04E10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7185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4C2F"/>
                </a:solidFill>
              </a:defRPr>
            </a:pPr>
            <a:r>
              <a:rPr sz="1950" b="1">
                <a:solidFill>
                  <a:srgbClr val="A84C2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EB924-E929-4A8C-B292-649B5E4E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5314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70700-AF3B-4C27-8AAE-85610D38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6232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Transformationen getrennt und Drehung verlangsamt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8B36D-DBD7-4AF4-8DA0-517D6A4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7C958-6EFD-4826-A630-F9036FB9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Newsfeed-Leiste stoppte nach Pfeilklick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0CA9F-2828-43A4-9472-5FCADB9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4C2F"/>
                </a:solidFill>
              </a:defRPr>
            </a:pPr>
            <a:r>
              <a:rPr sz="1950" b="1">
                <a:solidFill>
                  <a:srgbClr val="A84C2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504F5-3BD7-4E36-8590-57FEF93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314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91ECF-34EC-48FD-BA98-AEE32C35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Timer und Fortschrittswert vollständig neu gestartet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88669-B3A8-4094-8524-9ADC0AC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66085-7E68-4DCC-A6E7-2EC3DA88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2A24"/>
                </a:solidFill>
              </a:defRPr>
            </a:pPr>
            <a:r>
              <a:rPr sz="1350" b="1">
                <a:solidFill>
                  <a:srgbClr val="342A24"/>
                </a:solidFill>
              </a:rPr>
              <a:t>Quiz-Rückmeldung erklärte zu wenig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FCA51-D628-4092-BE75-34FB6291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10150"/>
            <a:ext cx="38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4C2F"/>
                </a:solidFill>
              </a:defRPr>
            </a:pPr>
            <a:r>
              <a:rPr sz="1950" b="1">
                <a:solidFill>
                  <a:srgbClr val="A84C2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14557-7F90-42C9-9111-E764198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314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82342-1EC8-44BA-B144-A1E93E7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0062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5D52"/>
                </a:solidFill>
              </a:defRPr>
            </a:pPr>
            <a:r>
              <a:rPr sz="1275" b="0">
                <a:solidFill>
                  <a:srgbClr val="6E5D52"/>
                </a:solidFill>
              </a:rPr>
              <a:t>Begründung und Alltagsbeispiel ergänzt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9557-7771-4701-99D5-A537778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86450"/>
            <a:ext cx="7048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93B1F-8C0E-49D0-AC23-7192F7A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550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2A24"/>
                </a:solidFill>
              </a:defRPr>
            </a:pPr>
            <a:r>
              <a:rPr sz="1200" b="1">
                <a:solidFill>
                  <a:srgbClr val="342A24"/>
                </a:solidFill>
              </a:rPr>
              <a:t>Vorgehen: Fehler isolieren -&gt; einzeln testen -&gt; erneut im Browser prüfen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56CE0-7931-44F2-9E30-8610888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3B601-18B0-4ECC-AA51-FA73ADA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87C41-6065-458C-93D6-F692FAA4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3211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A8620-7E5A-43A8-98C0-E6CE9EF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C2F"/>
                </a:solidFill>
              </a:defRPr>
            </a:pPr>
            <a:r>
              <a:rPr sz="1125" b="1">
                <a:solidFill>
                  <a:srgbClr val="A84C2F"/>
                </a:solidFill>
              </a:rPr>
              <a:t>07 - ABLAUF UND RÜCKBLICK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D5D0-C70F-497C-87EA-BCEA5CF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2A24"/>
                </a:solidFill>
              </a:defRPr>
            </a:pPr>
            <a:r>
              <a:rPr sz="3150" b="1">
                <a:solidFill>
                  <a:srgbClr val="342A24"/>
                </a:solidFill>
              </a:rPr>
              <a:t>Planen, bauen, erweitern, testen - und beim nächsten Mal früher festlegen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2D8D2-B31B-4DD9-AAAB-7F240A8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95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B2A0-F4D2-4FC4-93AF-643B72B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CB2B5-87C3-42E0-9C74-81D9E3E6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7E42-7898-409D-9F8D-ADE99917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Planen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109EE-A4BC-48A3-9790-B5A8EBB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Thema und Struktur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4A401-5252-426B-998D-30C99D8F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095FB-E984-4F86-B2C5-0057B314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D563-6408-43AC-83C3-450EEDC2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Bauen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3A9DB-36EF-4D51-973B-F4F350D2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HTML und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0309D-DFEA-4AA9-9135-A5F4200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D829B-48C6-41DE-BC30-3978FEB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853ED-9284-4642-8B39-D8DE3F8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Gestalten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90AD5-A3D0-427D-BBDC-13DD9150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CSS, Fotos, Responsive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F405C-AE6C-4FC1-B281-D5A9AAF7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8F8FE-4A1A-4BB6-B1C8-64613B9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2A24"/>
                </a:solidFill>
              </a:defRPr>
            </a:pPr>
            <a:r>
              <a:rPr sz="1650" b="1">
                <a:solidFill>
                  <a:srgbClr val="342A24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BAC4E-DB4C-4332-B9FF-5902483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23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Erweitern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C40B5-6047-4B3A-8BF9-7E2F2062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Quiz, Feed, Quellen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5A866-A9C6-46FF-8213-5ABB93B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BB7DA-A09C-466D-9F81-37531255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6D8E4-31D5-487E-A09E-DAC7998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A24"/>
                </a:solidFill>
              </a:defRPr>
            </a:pPr>
            <a:r>
              <a:rPr sz="1500" b="1">
                <a:solidFill>
                  <a:srgbClr val="342A24"/>
                </a:solidFill>
              </a:rPr>
              <a:t>Testen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004D0-002C-4CBD-A099-8BA68EB9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5D52"/>
                </a:solidFill>
              </a:defRPr>
            </a:pPr>
            <a:r>
              <a:rPr sz="1200" b="0">
                <a:solidFill>
                  <a:srgbClr val="6E5D52"/>
                </a:solidFill>
              </a:rPr>
              <a:t>Links, Kontrast, Mobil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C24CB-6217-4C13-B8F8-2BF6BBB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FDCA3-D4A0-4F92-877E-89B212E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C2F"/>
                </a:solidFill>
              </a:defRPr>
            </a:pPr>
            <a:r>
              <a:rPr sz="1425" b="1">
                <a:solidFill>
                  <a:srgbClr val="A84C2F"/>
                </a:solidFill>
              </a:rPr>
              <a:t>Nächstes Mal besser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96220-A97D-440D-95AF-99C974B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2A24"/>
                </a:solidFill>
              </a:defRPr>
            </a:pPr>
            <a:r>
              <a:rPr sz="1575" b="1">
                <a:solidFill>
                  <a:srgbClr val="342A24"/>
                </a:solidFill>
              </a:rPr>
              <a:t>Zuerst eine Detailseite vollständig prototypen, Designsystem früh festlegen und Inhalte priorisieren.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AC9D77-02D7-4963-8D63-B570BE25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B9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D6811-8940-4085-899E-CFE54329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D52"/>
                </a:solidFill>
              </a:defRPr>
            </a:pPr>
            <a:r>
              <a:rPr sz="975" b="1">
                <a:solidFill>
                  <a:srgbClr val="6E5D52"/>
                </a:solidFill>
              </a:rPr>
              <a:t>KI im Alltag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BFB7B-F101-492D-B752-70AF8A42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4C2F"/>
                </a:solidFill>
              </a:defRPr>
            </a:pPr>
            <a:r>
              <a:rPr sz="975" b="1">
                <a:solidFill>
                  <a:srgbClr val="A84C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3213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A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72dec6d5c44ee"/>
          <a:srcRect xmlns:a="http://schemas.openxmlformats.org/drawingml/2006/main" l="25918" t="0" r="259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AD68B-D66E-479C-A97A-4120765C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A2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0E6CC-1617-4532-BFF1-6129D48D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1619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A2C2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387A4-46DC-43B3-ADD6-401792C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53D"/>
                </a:solidFill>
              </a:defRPr>
            </a:pPr>
            <a:r>
              <a:rPr sz="1125" b="1">
                <a:solidFill>
                  <a:srgbClr val="C9953D"/>
                </a:solidFill>
              </a:rPr>
              <a:t>FAZIT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DF937-7AE5-4A56-A096-00D03F1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KI ist im Alltag angekommen.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8737E-F0FA-4500-BC60-EFEDC1F9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D9CC"/>
                </a:solidFill>
              </a:defRPr>
            </a:pPr>
            <a:r>
              <a:rPr sz="1875" b="0">
                <a:solidFill>
                  <a:srgbClr val="E8D9CC"/>
                </a:solidFill>
              </a:rPr>
              <a:t>Unsere Website verbindet reale Nutzung mit Quellen, Chancen und Grenzen.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B9540-EF3B-457B-A9A2-E313A2A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4950D-3EC2-44BC-A6C9-BCF93295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2A24"/>
                </a:solidFill>
              </a:defRPr>
            </a:pPr>
            <a:r>
              <a:rPr sz="1200" b="1">
                <a:solidFill>
                  <a:srgbClr val="342A24"/>
                </a:solidFill>
              </a:rPr>
              <a:t>HTML5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AACF3-27D3-47FD-84C8-3E7EE2B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10000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69152-5998-4BF2-B826-38DAF512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290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2A24"/>
                </a:solidFill>
              </a:defRPr>
            </a:pPr>
            <a:r>
              <a:rPr sz="1200" b="1">
                <a:solidFill>
                  <a:srgbClr val="342A24"/>
                </a:solidFill>
              </a:rPr>
              <a:t>CSS 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75D02-982D-4B08-A3BC-21BB5A3D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9B62E-880D-40E6-A290-BB77E1B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2A24"/>
                </a:solidFill>
              </a:defRPr>
            </a:pPr>
            <a:r>
              <a:rPr sz="1200" b="1">
                <a:solidFill>
                  <a:srgbClr val="342A24"/>
                </a:solidFill>
              </a:rPr>
              <a:t>Responsive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BBB62-1071-47FD-B632-0AF3010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550CE-775C-4C79-863A-2B7E81A2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290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78597-D7A7-4528-92D7-12700CC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A84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BFD32-7848-4D06-8420-541B10EF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Kurze Live-Demo: Feed -&gt; Detailseite -&gt; Quiz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0C39D-B223-455C-B043-73606649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53D"/>
                </a:solidFill>
              </a:defRPr>
            </a:pPr>
            <a:r>
              <a:rPr sz="1350" b="1">
                <a:solidFill>
                  <a:srgbClr val="C9953D"/>
                </a:solidFill>
              </a:rPr>
              <a:t>Was KI kann, ist wichtig. Wie wir sie einsetzen, ist entscheidend.</a:t>
            </a:r>
          </a:p>
        </p:txBody>
      </p:sp>
    </p:spTree>
    <p:extLst>
      <p:ext uri="{BB962C8B-B14F-4D97-AF65-F5344CB8AC3E}">
        <p14:creationId xmlns:p14="http://schemas.microsoft.com/office/powerpoint/2010/main" val="9804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2026-07-16T08:19:51.2590000Z</dcterms:created>
  <dcterms:modified xsi:type="dcterms:W3CDTF">2026-07-16T08:19:51.2590000Z</dcterms:modified>
</coreProperties>
</file>